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1" r:id="rId1"/>
  </p:sldMasterIdLst>
  <p:notesMasterIdLst>
    <p:notesMasterId r:id="rId25"/>
  </p:notesMasterIdLst>
  <p:sldIdLst>
    <p:sldId id="256" r:id="rId2"/>
    <p:sldId id="267" r:id="rId3"/>
    <p:sldId id="257" r:id="rId4"/>
    <p:sldId id="258" r:id="rId5"/>
    <p:sldId id="262" r:id="rId6"/>
    <p:sldId id="269" r:id="rId7"/>
    <p:sldId id="270" r:id="rId8"/>
    <p:sldId id="271" r:id="rId9"/>
    <p:sldId id="284" r:id="rId10"/>
    <p:sldId id="285" r:id="rId11"/>
    <p:sldId id="272" r:id="rId12"/>
    <p:sldId id="286" r:id="rId13"/>
    <p:sldId id="273" r:id="rId14"/>
    <p:sldId id="291" r:id="rId15"/>
    <p:sldId id="274" r:id="rId16"/>
    <p:sldId id="287" r:id="rId17"/>
    <p:sldId id="278" r:id="rId18"/>
    <p:sldId id="288" r:id="rId19"/>
    <p:sldId id="289" r:id="rId20"/>
    <p:sldId id="290" r:id="rId21"/>
    <p:sldId id="279" r:id="rId22"/>
    <p:sldId id="280" r:id="rId23"/>
    <p:sldId id="268" r:id="rId24"/>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6699FF"/>
    <a:srgbClr val="CC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221" autoAdjust="0"/>
    <p:restoredTop sz="94660"/>
  </p:normalViewPr>
  <p:slideViewPr>
    <p:cSldViewPr snapToGrid="0">
      <p:cViewPr varScale="1">
        <p:scale>
          <a:sx n="73" d="100"/>
          <a:sy n="73" d="100"/>
        </p:scale>
        <p:origin x="-612"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B859EF5A-897B-4E7A-8987-72E0BA270BA5}" type="datetimeFigureOut">
              <a:rPr lang="en-US"/>
              <a:pPr>
                <a:defRPr/>
              </a:pPr>
              <a:t>7/17/2024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F2906111-89A0-43B7-ADC8-DA25A439EE4A}" type="slidenum">
              <a:rPr lang="en-US"/>
              <a:pPr>
                <a:defRPr/>
              </a:pPr>
              <a:t>‹#›</a:t>
            </a:fld>
            <a:endParaRPr lang="en-US"/>
          </a:p>
        </p:txBody>
      </p:sp>
    </p:spTree>
    <p:extLst>
      <p:ext uri="{BB962C8B-B14F-4D97-AF65-F5344CB8AC3E}">
        <p14:creationId xmlns:p14="http://schemas.microsoft.com/office/powerpoint/2010/main" xmlns="" val="22679269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1434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3858CDF-14E0-4CE0-A79D-B000CC5FC8B9}" type="slidenum">
              <a:rPr lang="en-US" smtClean="0"/>
              <a:pPr fontAlgn="base">
                <a:spcBef>
                  <a:spcPct val="0"/>
                </a:spcBef>
                <a:spcAft>
                  <a:spcPct val="0"/>
                </a:spcAft>
                <a:defRPr/>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C3D197A7-0BB3-4533-ADED-34555E488C9A}" type="datetime1">
              <a:rPr lang="en-US"/>
              <a:pPr>
                <a:defRPr/>
              </a:pPr>
              <a:t>7/17/2024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43DB150C-4E42-4732-B852-F3E2657F504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E959592-D7B5-495C-9D3E-4FF4A78EC3F3}" type="datetime1">
              <a:rPr lang="en-US"/>
              <a:pPr>
                <a:defRPr/>
              </a:pPr>
              <a:t>7/17/2024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81778C72-80D4-44C2-A5C0-B833B330A20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8EA45C4-0041-4BED-9116-B3AFB076AE55}" type="datetime1">
              <a:rPr lang="en-US"/>
              <a:pPr>
                <a:defRPr/>
              </a:pPr>
              <a:t>7/17/2024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A39FF9DD-F899-4DD8-AEC9-E68D1485F8D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00BFCB0D-C287-47C9-884D-992C3D648771}" type="datetime1">
              <a:rPr lang="en-US"/>
              <a:pPr>
                <a:defRPr/>
              </a:pPr>
              <a:t>7/17/2024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Dept. of CSE, SJCIT</a:t>
            </a:r>
          </a:p>
        </p:txBody>
      </p:sp>
      <p:sp>
        <p:nvSpPr>
          <p:cNvPr id="7" name="Slide Number Placeholder 5"/>
          <p:cNvSpPr>
            <a:spLocks noGrp="1"/>
          </p:cNvSpPr>
          <p:nvPr>
            <p:ph type="sldNum" sz="quarter" idx="12"/>
          </p:nvPr>
        </p:nvSpPr>
        <p:spPr/>
        <p:txBody>
          <a:bodyPr/>
          <a:lstStyle>
            <a:lvl1pPr>
              <a:defRPr/>
            </a:lvl1pPr>
          </a:lstStyle>
          <a:p>
            <a:pPr>
              <a:defRPr/>
            </a:pPr>
            <a:fld id="{B9907319-E605-4C82-8804-679D4188845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8BBF02D5-F3FC-4A67-9A69-BE8185B4A293}" type="datetime1">
              <a:rPr lang="en-US"/>
              <a:pPr>
                <a:defRPr/>
              </a:pPr>
              <a:t>7/17/2024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Dept. of CSE, SJCIT</a:t>
            </a:r>
          </a:p>
        </p:txBody>
      </p:sp>
      <p:sp>
        <p:nvSpPr>
          <p:cNvPr id="9" name="Slide Number Placeholder 5"/>
          <p:cNvSpPr>
            <a:spLocks noGrp="1"/>
          </p:cNvSpPr>
          <p:nvPr>
            <p:ph type="sldNum" sz="quarter" idx="12"/>
          </p:nvPr>
        </p:nvSpPr>
        <p:spPr/>
        <p:txBody>
          <a:bodyPr/>
          <a:lstStyle>
            <a:lvl1pPr>
              <a:defRPr/>
            </a:lvl1pPr>
          </a:lstStyle>
          <a:p>
            <a:pPr>
              <a:defRPr/>
            </a:pPr>
            <a:fld id="{A74AB872-5383-48F3-995F-18EDF236200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BBB8EE9-607A-457A-8B2A-B3AF2D4C6A81}" type="datetime1">
              <a:rPr lang="en-US"/>
              <a:pPr>
                <a:defRPr/>
              </a:pPr>
              <a:t>7/17/2024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Dept. of CSE, SJCIT</a:t>
            </a:r>
          </a:p>
        </p:txBody>
      </p:sp>
      <p:sp>
        <p:nvSpPr>
          <p:cNvPr id="5" name="Slide Number Placeholder 5"/>
          <p:cNvSpPr>
            <a:spLocks noGrp="1"/>
          </p:cNvSpPr>
          <p:nvPr>
            <p:ph type="sldNum" sz="quarter" idx="12"/>
          </p:nvPr>
        </p:nvSpPr>
        <p:spPr/>
        <p:txBody>
          <a:bodyPr/>
          <a:lstStyle>
            <a:lvl1pPr>
              <a:defRPr/>
            </a:lvl1pPr>
          </a:lstStyle>
          <a:p>
            <a:pPr>
              <a:defRPr/>
            </a:pPr>
            <a:fld id="{9DD35C92-ACCB-447D-B829-D51BBBFE6EFF}"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6FADFB0-2F8C-415B-8838-7A44004B50D2}" type="datetime1">
              <a:rPr lang="en-US"/>
              <a:pPr>
                <a:defRPr/>
              </a:pPr>
              <a:t>7/17/2024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Dept. of CSE, SJCIT</a:t>
            </a:r>
          </a:p>
        </p:txBody>
      </p:sp>
      <p:sp>
        <p:nvSpPr>
          <p:cNvPr id="4" name="Slide Number Placeholder 5"/>
          <p:cNvSpPr>
            <a:spLocks noGrp="1"/>
          </p:cNvSpPr>
          <p:nvPr>
            <p:ph type="sldNum" sz="quarter" idx="12"/>
          </p:nvPr>
        </p:nvSpPr>
        <p:spPr/>
        <p:txBody>
          <a:bodyPr/>
          <a:lstStyle>
            <a:lvl1pPr>
              <a:defRPr/>
            </a:lvl1pPr>
          </a:lstStyle>
          <a:p>
            <a:pPr>
              <a:defRPr/>
            </a:pPr>
            <a:fld id="{49523D1E-D3B1-4E89-BB26-D8075D63C344}"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D78CD27-FD07-4521-BC56-A72D7C3EF988}" type="datetime1">
              <a:rPr lang="en-US"/>
              <a:pPr>
                <a:defRPr/>
              </a:pPr>
              <a:t>7/17/2024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Dept. of CSE, SJCIT</a:t>
            </a:r>
          </a:p>
        </p:txBody>
      </p:sp>
      <p:sp>
        <p:nvSpPr>
          <p:cNvPr id="7" name="Slide Number Placeholder 5"/>
          <p:cNvSpPr>
            <a:spLocks noGrp="1"/>
          </p:cNvSpPr>
          <p:nvPr>
            <p:ph type="sldNum" sz="quarter" idx="12"/>
          </p:nvPr>
        </p:nvSpPr>
        <p:spPr/>
        <p:txBody>
          <a:bodyPr/>
          <a:lstStyle>
            <a:lvl1pPr>
              <a:defRPr/>
            </a:lvl1pPr>
          </a:lstStyle>
          <a:p>
            <a:pPr>
              <a:defRPr/>
            </a:pPr>
            <a:fld id="{BB162F6F-03AC-4078-AA59-519032B66C8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9C91DD7-C648-4E6B-89F1-83D0CF2CFB64}" type="datetime1">
              <a:rPr lang="en-US"/>
              <a:pPr>
                <a:defRPr/>
              </a:pPr>
              <a:t>7/17/2024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Dept. of CSE, SJCIT</a:t>
            </a:r>
          </a:p>
        </p:txBody>
      </p:sp>
      <p:sp>
        <p:nvSpPr>
          <p:cNvPr id="7" name="Slide Number Placeholder 5"/>
          <p:cNvSpPr>
            <a:spLocks noGrp="1"/>
          </p:cNvSpPr>
          <p:nvPr>
            <p:ph type="sldNum" sz="quarter" idx="12"/>
          </p:nvPr>
        </p:nvSpPr>
        <p:spPr/>
        <p:txBody>
          <a:bodyPr/>
          <a:lstStyle>
            <a:lvl1pPr>
              <a:defRPr/>
            </a:lvl1pPr>
          </a:lstStyle>
          <a:p>
            <a:pPr>
              <a:defRPr/>
            </a:pPr>
            <a:fld id="{9654373D-11C6-450E-B824-71FBCFB2225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441531C-55B3-43A3-94F0-A014F2014A08}" type="datetime1">
              <a:rPr lang="en-US"/>
              <a:pPr>
                <a:defRPr/>
              </a:pPr>
              <a:t>7/17/2024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E5D10FFB-B723-47FA-AE94-2E99EB6648E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AB64823-3F3A-4375-BE64-3E7502D310D5}" type="datetime1">
              <a:rPr lang="en-US"/>
              <a:pPr>
                <a:defRPr/>
              </a:pPr>
              <a:t>7/17/2024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4AE3F581-0D82-4287-82E1-346AE1C0151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600200"/>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BAD26758-FD56-4D80-8060-A71EAB9C0856}" type="datetime1">
              <a:rPr lang="en-US"/>
              <a:pPr>
                <a:defRPr/>
              </a:pPr>
              <a:t>7/17/2024</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US"/>
              <a:t>Dept. of CSE, SJCIT</a:t>
            </a:r>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F93DA94D-2222-4437-96EC-3C570EFD98C1}" type="slidenum">
              <a:rPr lang="en-US"/>
              <a:pPr>
                <a:defRPr/>
              </a:pPr>
              <a:t>‹#›</a:t>
            </a:fld>
            <a:endParaRPr lang="en-US"/>
          </a:p>
        </p:txBody>
      </p:sp>
      <p:pic>
        <p:nvPicPr>
          <p:cNvPr id="1031" name="Picture 6"/>
          <p:cNvPicPr>
            <a:picLocks noChangeAspect="1"/>
          </p:cNvPicPr>
          <p:nvPr userDrawn="1"/>
        </p:nvPicPr>
        <p:blipFill>
          <a:blip r:embed="rId13"/>
          <a:srcRect/>
          <a:stretch>
            <a:fillRect/>
          </a:stretch>
        </p:blipFill>
        <p:spPr bwMode="auto">
          <a:xfrm>
            <a:off x="10747375" y="0"/>
            <a:ext cx="1444625" cy="11239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openai.com/chatgpt" TargetMode="External"/><Relationship Id="rId2" Type="http://schemas.openxmlformats.org/officeDocument/2006/relationships/hyperlink" Target="https://www.tandfonline.com/doi/abs/10.1080/13600830801886984" TargetMode="External"/><Relationship Id="rId1" Type="http://schemas.openxmlformats.org/officeDocument/2006/relationships/slideLayout" Target="../slideLayouts/slideLayout2.xml"/><Relationship Id="rId5" Type="http://schemas.openxmlformats.org/officeDocument/2006/relationships/hyperlink" Target="https://www.researchgate.net/publication/351725158_A_Systematic_Review_of_Blogging_Opportunities_and_Challenges" TargetMode="External"/><Relationship Id="rId4" Type="http://schemas.openxmlformats.org/officeDocument/2006/relationships/hyperlink" Target="https://github.com/kunaal438/blogging-sit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3213" y="169863"/>
            <a:ext cx="10507662" cy="1406525"/>
          </a:xfrm>
        </p:spPr>
        <p:txBody>
          <a:bodyPr/>
          <a:lstStyle/>
          <a:p>
            <a:pPr eaLnBrk="1" hangingPunct="1"/>
            <a:r>
              <a:rPr lang="en-US" sz="3200" dirty="0">
                <a:latin typeface="Times New Roman" pitchFamily="18" charset="0"/>
                <a:cs typeface="Times New Roman" pitchFamily="18" charset="0"/>
              </a:rPr>
              <a:t>          </a:t>
            </a:r>
            <a:r>
              <a:rPr lang="en-US" sz="3600" b="1" dirty="0">
                <a:solidFill>
                  <a:srgbClr val="002060"/>
                </a:solidFill>
                <a:latin typeface="Times New Roman" pitchFamily="18" charset="0"/>
                <a:cs typeface="Times New Roman" pitchFamily="18" charset="0"/>
              </a:rPr>
              <a:t>S J C INSTITUTE OF TECHNOLOGY</a:t>
            </a:r>
            <a:r>
              <a:rPr lang="en-US" sz="3200" dirty="0">
                <a:solidFill>
                  <a:srgbClr val="002060"/>
                </a:solidFill>
                <a:latin typeface="Times New Roman" pitchFamily="18" charset="0"/>
                <a:cs typeface="Times New Roman" pitchFamily="18" charset="0"/>
              </a:rPr>
              <a:t/>
            </a:r>
            <a:br>
              <a:rPr lang="en-US" sz="3200" dirty="0">
                <a:solidFill>
                  <a:srgbClr val="002060"/>
                </a:solidFill>
                <a:latin typeface="Times New Roman" pitchFamily="18" charset="0"/>
                <a:cs typeface="Times New Roman" pitchFamily="18" charset="0"/>
              </a:rPr>
            </a:br>
            <a:r>
              <a:rPr lang="en-US" sz="3200" dirty="0">
                <a:solidFill>
                  <a:srgbClr val="002060"/>
                </a:solidFill>
                <a:latin typeface="Times New Roman" pitchFamily="18" charset="0"/>
                <a:cs typeface="Times New Roman" pitchFamily="18" charset="0"/>
              </a:rPr>
              <a:t>        </a:t>
            </a:r>
            <a:r>
              <a:rPr lang="en-US" sz="2400" b="1" dirty="0">
                <a:solidFill>
                  <a:srgbClr val="002060"/>
                </a:solidFill>
                <a:latin typeface="Times New Roman" pitchFamily="18" charset="0"/>
                <a:cs typeface="Times New Roman" pitchFamily="18" charset="0"/>
              </a:rPr>
              <a:t>DEPARTMENT OF COMPUTER SCIENCE AND ENGINEERING</a:t>
            </a:r>
            <a:endParaRPr lang="en-US" sz="3200" b="1" dirty="0">
              <a:solidFill>
                <a:srgbClr val="002060"/>
              </a:solidFill>
              <a:latin typeface="Times New Roman" pitchFamily="18" charset="0"/>
              <a:cs typeface="Times New Roman" pitchFamily="18" charset="0"/>
            </a:endParaRPr>
          </a:p>
        </p:txBody>
      </p:sp>
      <p:sp>
        <p:nvSpPr>
          <p:cNvPr id="3" name="Subtitle 2"/>
          <p:cNvSpPr>
            <a:spLocks noGrp="1"/>
          </p:cNvSpPr>
          <p:nvPr>
            <p:ph type="subTitle" idx="1"/>
          </p:nvPr>
        </p:nvSpPr>
        <p:spPr>
          <a:xfrm>
            <a:off x="462869" y="1439863"/>
            <a:ext cx="10920123" cy="4913312"/>
          </a:xfrm>
        </p:spPr>
        <p:txBody>
          <a:bodyPr rtlCol="0">
            <a:normAutofit/>
          </a:bodyPr>
          <a:lstStyle/>
          <a:p>
            <a:pPr eaLnBrk="1" fontAlgn="auto" hangingPunct="1">
              <a:spcAft>
                <a:spcPts val="0"/>
              </a:spcAft>
              <a:buFont typeface="Arial" pitchFamily="34" charset="0"/>
              <a:buNone/>
              <a:defRPr/>
            </a:pPr>
            <a:r>
              <a:rPr lang="en-US" sz="2400" dirty="0">
                <a:latin typeface="Times New Roman" pitchFamily="18" charset="0"/>
                <a:cs typeface="Times New Roman" pitchFamily="18" charset="0"/>
              </a:rPr>
              <a:t>Mini- Project work </a:t>
            </a:r>
          </a:p>
          <a:p>
            <a:pPr eaLnBrk="1" fontAlgn="auto" hangingPunct="1">
              <a:spcAft>
                <a:spcPts val="0"/>
              </a:spcAft>
              <a:buFont typeface="Arial" pitchFamily="34" charset="0"/>
              <a:buNone/>
              <a:defRPr/>
            </a:pPr>
            <a:r>
              <a:rPr lang="en-US" sz="2400" dirty="0">
                <a:latin typeface="Times New Roman" pitchFamily="18" charset="0"/>
                <a:cs typeface="Times New Roman" pitchFamily="18" charset="0"/>
              </a:rPr>
              <a:t> On       </a:t>
            </a:r>
          </a:p>
          <a:p>
            <a:pPr eaLnBrk="1" fontAlgn="auto" hangingPunct="1">
              <a:spcAft>
                <a:spcPts val="0"/>
              </a:spcAft>
              <a:buFont typeface="Arial" pitchFamily="34" charset="0"/>
              <a:buNone/>
              <a:defRPr/>
            </a:pPr>
            <a:r>
              <a:rPr lang="en-US" dirty="0">
                <a:solidFill>
                  <a:schemeClr val="accent1">
                    <a:lumMod val="75000"/>
                  </a:schemeClr>
                </a:solidFill>
                <a:latin typeface="Times New Roman" panose="02020603050405020304" pitchFamily="18" charset="0"/>
                <a:cs typeface="Times New Roman" panose="02020603050405020304" pitchFamily="18" charset="0"/>
              </a:rPr>
              <a:t>“</a:t>
            </a:r>
            <a:r>
              <a:rPr lang="en-US" b="1" dirty="0">
                <a:solidFill>
                  <a:schemeClr val="accent1">
                    <a:lumMod val="75000"/>
                  </a:schemeClr>
                </a:solidFill>
                <a:latin typeface="Times New Roman" panose="02020603050405020304" pitchFamily="18" charset="0"/>
                <a:cs typeface="Times New Roman" panose="02020603050405020304" pitchFamily="18" charset="0"/>
              </a:rPr>
              <a:t>Blogging Website</a:t>
            </a:r>
            <a:r>
              <a:rPr lang="en-US" dirty="0">
                <a:solidFill>
                  <a:schemeClr val="accent1">
                    <a:lumMod val="75000"/>
                  </a:schemeClr>
                </a:solidFill>
                <a:latin typeface="Times New Roman" panose="02020603050405020304" pitchFamily="18" charset="0"/>
                <a:cs typeface="Times New Roman" panose="02020603050405020304" pitchFamily="18" charset="0"/>
              </a:rPr>
              <a:t>”</a:t>
            </a:r>
          </a:p>
          <a:p>
            <a:pPr eaLnBrk="1" fontAlgn="auto" hangingPunct="1">
              <a:spcAft>
                <a:spcPts val="0"/>
              </a:spcAft>
              <a:buFont typeface="Arial" pitchFamily="34" charset="0"/>
              <a:buNone/>
              <a:defRPr/>
            </a:pPr>
            <a:r>
              <a:rPr lang="en-US" sz="2000" dirty="0">
                <a:solidFill>
                  <a:schemeClr val="tx1"/>
                </a:solidFill>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PRESENTED BY</a:t>
            </a:r>
          </a:p>
          <a:p>
            <a:pPr eaLnBrk="1" fontAlgn="auto" hangingPunct="1">
              <a:spcAft>
                <a:spcPts val="0"/>
              </a:spcAft>
              <a:buFont typeface="Arial" pitchFamily="34" charset="0"/>
              <a:buNone/>
              <a:defRPr/>
            </a:pPr>
            <a:r>
              <a:rPr lang="en-US" sz="2000" dirty="0" err="1">
                <a:solidFill>
                  <a:srgbClr val="002060"/>
                </a:solidFill>
                <a:latin typeface="Times New Roman" panose="02020603050405020304" pitchFamily="18" charset="0"/>
                <a:cs typeface="Times New Roman" panose="02020603050405020304" pitchFamily="18" charset="0"/>
              </a:rPr>
              <a:t>Vidyashree</a:t>
            </a:r>
            <a:r>
              <a:rPr lang="en-US" sz="2000" dirty="0">
                <a:solidFill>
                  <a:srgbClr val="002060"/>
                </a:solidFill>
                <a:latin typeface="Times New Roman" panose="02020603050405020304" pitchFamily="18" charset="0"/>
                <a:cs typeface="Times New Roman" panose="02020603050405020304" pitchFamily="18" charset="0"/>
              </a:rPr>
              <a:t> T S                                                         1SJ21CS179</a:t>
            </a:r>
          </a:p>
          <a:p>
            <a:pPr eaLnBrk="1" fontAlgn="auto" hangingPunct="1">
              <a:spcAft>
                <a:spcPts val="0"/>
              </a:spcAft>
              <a:buFont typeface="Arial" pitchFamily="34" charset="0"/>
              <a:buNone/>
              <a:defRPr/>
            </a:pPr>
            <a:r>
              <a:rPr lang="en-US" sz="2000" dirty="0">
                <a:solidFill>
                  <a:srgbClr val="002060"/>
                </a:solidFill>
                <a:latin typeface="Times New Roman" panose="02020603050405020304" pitchFamily="18" charset="0"/>
                <a:cs typeface="Times New Roman" panose="02020603050405020304" pitchFamily="18" charset="0"/>
              </a:rPr>
              <a:t>Shaik Al </a:t>
            </a:r>
            <a:r>
              <a:rPr lang="en-US" sz="2000" dirty="0" err="1">
                <a:solidFill>
                  <a:srgbClr val="002060"/>
                </a:solidFill>
                <a:latin typeface="Times New Roman" panose="02020603050405020304" pitchFamily="18" charset="0"/>
                <a:cs typeface="Times New Roman" panose="02020603050405020304" pitchFamily="18" charset="0"/>
              </a:rPr>
              <a:t>Kashifah</a:t>
            </a:r>
            <a:r>
              <a:rPr lang="en-US" sz="2000" dirty="0">
                <a:solidFill>
                  <a:srgbClr val="002060"/>
                </a:solidFill>
                <a:latin typeface="Times New Roman" panose="02020603050405020304" pitchFamily="18" charset="0"/>
                <a:cs typeface="Times New Roman" panose="02020603050405020304" pitchFamily="18" charset="0"/>
              </a:rPr>
              <a:t>                                                    1SJ21CS188                                                   </a:t>
            </a:r>
          </a:p>
          <a:p>
            <a:pPr eaLnBrk="1" fontAlgn="auto" hangingPunct="1">
              <a:spcAft>
                <a:spcPts val="0"/>
              </a:spcAft>
              <a:buFont typeface="Arial" pitchFamily="34" charset="0"/>
              <a:buNone/>
              <a:defRPr/>
            </a:pPr>
            <a:r>
              <a:rPr lang="en-US" sz="2000" dirty="0">
                <a:solidFill>
                  <a:srgbClr val="002060"/>
                </a:solidFill>
                <a:latin typeface="Times New Roman" panose="02020603050405020304" pitchFamily="18" charset="0"/>
                <a:cs typeface="Times New Roman" panose="02020603050405020304" pitchFamily="18" charset="0"/>
              </a:rPr>
              <a:t>Vinutha T N                                                              1SJ21CS190</a:t>
            </a:r>
          </a:p>
          <a:p>
            <a:pPr eaLnBrk="1" fontAlgn="auto" hangingPunct="1">
              <a:spcAft>
                <a:spcPts val="0"/>
              </a:spcAft>
              <a:buFont typeface="Arial" pitchFamily="34" charset="0"/>
              <a:buNone/>
              <a:defRPr/>
            </a:pPr>
            <a:r>
              <a:rPr lang="en-US" sz="2000" dirty="0">
                <a:solidFill>
                  <a:srgbClr val="002060"/>
                </a:solidFill>
                <a:latin typeface="Times New Roman" panose="02020603050405020304" pitchFamily="18" charset="0"/>
                <a:cs typeface="Times New Roman" panose="02020603050405020304" pitchFamily="18" charset="0"/>
              </a:rPr>
              <a:t> Keerthana R                                                             </a:t>
            </a:r>
            <a:r>
              <a:rPr lang="en-US" sz="2000" dirty="0" smtClean="0">
                <a:solidFill>
                  <a:srgbClr val="002060"/>
                </a:solidFill>
                <a:latin typeface="Times New Roman" panose="02020603050405020304" pitchFamily="18" charset="0"/>
                <a:cs typeface="Times New Roman" panose="02020603050405020304" pitchFamily="18" charset="0"/>
              </a:rPr>
              <a:t>1SJ22CS402</a:t>
            </a:r>
          </a:p>
          <a:p>
            <a:pPr eaLnBrk="1" fontAlgn="auto" hangingPunct="1">
              <a:spcAft>
                <a:spcPts val="0"/>
              </a:spcAft>
              <a:buFont typeface="Arial" pitchFamily="34" charset="0"/>
              <a:buNone/>
              <a:defRPr/>
            </a:pPr>
            <a:r>
              <a:rPr lang="en-US" sz="2000" b="1" dirty="0" smtClean="0">
                <a:solidFill>
                  <a:schemeClr val="tx1"/>
                </a:solidFill>
                <a:latin typeface="Times New Roman" panose="02020603050405020304" pitchFamily="18" charset="0"/>
                <a:cs typeface="Times New Roman" panose="02020603050405020304" pitchFamily="18" charset="0"/>
              </a:rPr>
              <a:t>UNDER </a:t>
            </a:r>
            <a:r>
              <a:rPr lang="en-US" sz="2000" b="1" dirty="0">
                <a:solidFill>
                  <a:schemeClr val="tx1"/>
                </a:solidFill>
                <a:latin typeface="Times New Roman" panose="02020603050405020304" pitchFamily="18" charset="0"/>
                <a:cs typeface="Times New Roman" panose="02020603050405020304" pitchFamily="18" charset="0"/>
              </a:rPr>
              <a:t>THE GUIDANCE OF  </a:t>
            </a:r>
          </a:p>
          <a:p>
            <a:pPr algn="just" eaLnBrk="1" fontAlgn="auto" hangingPunct="1">
              <a:spcAft>
                <a:spcPts val="0"/>
              </a:spcAft>
              <a:buFont typeface="Arial" pitchFamily="34" charset="0"/>
              <a:buNone/>
              <a:defRPr/>
            </a:pP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smtClean="0">
                <a:solidFill>
                  <a:schemeClr val="tx1"/>
                </a:solidFill>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Prof. Swetha T		    </a:t>
            </a:r>
            <a:r>
              <a:rPr lang="en-US" sz="2000" b="1" dirty="0" smtClean="0">
                <a:solidFill>
                  <a:schemeClr val="tx1"/>
                </a:solidFill>
                <a:latin typeface="Times New Roman" panose="02020603050405020304" pitchFamily="18" charset="0"/>
                <a:cs typeface="Times New Roman" panose="02020603050405020304" pitchFamily="18" charset="0"/>
              </a:rPr>
              <a:t>Prof. </a:t>
            </a:r>
            <a:r>
              <a:rPr lang="en-US" sz="2000" b="1" dirty="0" err="1" smtClean="0">
                <a:solidFill>
                  <a:schemeClr val="tx1"/>
                </a:solidFill>
                <a:latin typeface="Times New Roman" panose="02020603050405020304" pitchFamily="18" charset="0"/>
                <a:cs typeface="Times New Roman" panose="02020603050405020304" pitchFamily="18" charset="0"/>
              </a:rPr>
              <a:t>Divakar</a:t>
            </a:r>
            <a:r>
              <a:rPr lang="en-US" sz="2000" b="1" dirty="0" smtClean="0">
                <a:solidFill>
                  <a:schemeClr val="tx1"/>
                </a:solidFill>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K M                         </a:t>
            </a:r>
            <a:r>
              <a:rPr lang="en-US" sz="2000" b="1" dirty="0" smtClean="0">
                <a:solidFill>
                  <a:schemeClr val="tx1"/>
                </a:solidFill>
                <a:latin typeface="Times New Roman" panose="02020603050405020304" pitchFamily="18" charset="0"/>
                <a:cs typeface="Times New Roman" panose="02020603050405020304" pitchFamily="18" charset="0"/>
              </a:rPr>
              <a:t>Dr</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Manjunatha</a:t>
            </a:r>
            <a:r>
              <a:rPr lang="en-US" sz="2000" b="1" dirty="0">
                <a:solidFill>
                  <a:schemeClr val="tx1"/>
                </a:solidFill>
                <a:latin typeface="Times New Roman" panose="02020603050405020304" pitchFamily="18" charset="0"/>
                <a:cs typeface="Times New Roman" panose="02020603050405020304" pitchFamily="18" charset="0"/>
              </a:rPr>
              <a:t> Kumar  B H</a:t>
            </a:r>
            <a:endParaRPr lang="en-US" sz="2000" b="1" dirty="0">
              <a:solidFill>
                <a:srgbClr val="002060"/>
              </a:solidFill>
              <a:latin typeface="Times New Roman" panose="02020603050405020304" pitchFamily="18" charset="0"/>
              <a:cs typeface="Times New Roman" panose="02020603050405020304" pitchFamily="18" charset="0"/>
            </a:endParaRPr>
          </a:p>
          <a:p>
            <a:pPr algn="just" eaLnBrk="1" fontAlgn="auto" hangingPunct="1">
              <a:spcAft>
                <a:spcPts val="0"/>
              </a:spcAft>
              <a:defRPr/>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smtClean="0">
                <a:solidFill>
                  <a:srgbClr val="002060"/>
                </a:solidFill>
                <a:latin typeface="Times New Roman" panose="02020603050405020304" pitchFamily="18" charset="0"/>
                <a:cs typeface="Times New Roman" panose="02020603050405020304" pitchFamily="18" charset="0"/>
              </a:rPr>
              <a:t> </a:t>
            </a:r>
            <a:r>
              <a:rPr lang="en-US" sz="1800" dirty="0" smtClean="0">
                <a:solidFill>
                  <a:srgbClr val="002060"/>
                </a:solidFill>
                <a:latin typeface="Times New Roman" panose="02020603050405020304" pitchFamily="18" charset="0"/>
                <a:cs typeface="Times New Roman" panose="02020603050405020304" pitchFamily="18" charset="0"/>
              </a:rPr>
              <a:t>Assistant </a:t>
            </a:r>
            <a:r>
              <a:rPr lang="en-US" sz="1800" dirty="0">
                <a:solidFill>
                  <a:srgbClr val="002060"/>
                </a:solidFill>
                <a:latin typeface="Times New Roman" panose="02020603050405020304" pitchFamily="18" charset="0"/>
                <a:cs typeface="Times New Roman" panose="02020603050405020304" pitchFamily="18" charset="0"/>
              </a:rPr>
              <a:t>Professor 		      </a:t>
            </a:r>
            <a:r>
              <a:rPr lang="en-US" sz="1800" dirty="0" smtClean="0">
                <a:solidFill>
                  <a:srgbClr val="002060"/>
                </a:solidFill>
                <a:latin typeface="Times New Roman" panose="02020603050405020304" pitchFamily="18" charset="0"/>
                <a:cs typeface="Times New Roman" panose="02020603050405020304" pitchFamily="18" charset="0"/>
              </a:rPr>
              <a:t> </a:t>
            </a:r>
            <a:r>
              <a:rPr lang="en-US" sz="1800" dirty="0">
                <a:solidFill>
                  <a:srgbClr val="002060"/>
                </a:solidFill>
                <a:latin typeface="Times New Roman" panose="02020603050405020304" pitchFamily="18" charset="0"/>
                <a:cs typeface="Times New Roman" panose="02020603050405020304" pitchFamily="18" charset="0"/>
              </a:rPr>
              <a:t>Assistant professor     	      	         Professor &amp; </a:t>
            </a:r>
            <a:r>
              <a:rPr lang="en-US" sz="1800" dirty="0" err="1">
                <a:solidFill>
                  <a:srgbClr val="002060"/>
                </a:solidFill>
                <a:latin typeface="Times New Roman" panose="02020603050405020304" pitchFamily="18" charset="0"/>
                <a:cs typeface="Times New Roman" panose="02020603050405020304" pitchFamily="18" charset="0"/>
              </a:rPr>
              <a:t>HoD</a:t>
            </a:r>
            <a:endParaRPr lang="en-US" sz="1800" dirty="0">
              <a:solidFill>
                <a:srgbClr val="002060"/>
              </a:solidFill>
              <a:latin typeface="Times New Roman" panose="02020603050405020304" pitchFamily="18" charset="0"/>
              <a:cs typeface="Times New Roman" panose="02020603050405020304" pitchFamily="18" charset="0"/>
            </a:endParaRPr>
          </a:p>
          <a:p>
            <a:pPr algn="just" eaLnBrk="1" fontAlgn="auto" hangingPunct="1">
              <a:spcAft>
                <a:spcPts val="0"/>
              </a:spcAft>
              <a:defRPr/>
            </a:pPr>
            <a:r>
              <a:rPr lang="en-US" sz="1800" dirty="0">
                <a:solidFill>
                  <a:srgbClr val="002060"/>
                </a:solidFill>
                <a:latin typeface="Times New Roman" panose="02020603050405020304" pitchFamily="18" charset="0"/>
                <a:cs typeface="Times New Roman" panose="02020603050405020304" pitchFamily="18" charset="0"/>
              </a:rPr>
              <a:t>            </a:t>
            </a:r>
            <a:r>
              <a:rPr lang="en-US" sz="1800" dirty="0" smtClean="0">
                <a:solidFill>
                  <a:srgbClr val="002060"/>
                </a:solidFill>
                <a:latin typeface="Times New Roman" panose="02020603050405020304" pitchFamily="18" charset="0"/>
                <a:cs typeface="Times New Roman" panose="02020603050405020304" pitchFamily="18" charset="0"/>
              </a:rPr>
              <a:t> Dept</a:t>
            </a:r>
            <a:r>
              <a:rPr lang="en-US" sz="1800" dirty="0">
                <a:solidFill>
                  <a:srgbClr val="002060"/>
                </a:solidFill>
                <a:latin typeface="Times New Roman" panose="02020603050405020304" pitchFamily="18" charset="0"/>
                <a:cs typeface="Times New Roman" panose="02020603050405020304" pitchFamily="18" charset="0"/>
              </a:rPr>
              <a:t>. Of CSE,SJCIT                       Dept. Of CSE,SJCIT                             </a:t>
            </a:r>
            <a:r>
              <a:rPr lang="en-US" sz="1800" dirty="0" smtClean="0">
                <a:solidFill>
                  <a:srgbClr val="002060"/>
                </a:solidFill>
                <a:latin typeface="Times New Roman" panose="02020603050405020304" pitchFamily="18" charset="0"/>
                <a:cs typeface="Times New Roman" panose="02020603050405020304" pitchFamily="18" charset="0"/>
              </a:rPr>
              <a:t>   </a:t>
            </a:r>
            <a:r>
              <a:rPr lang="en-US" sz="1800" dirty="0">
                <a:solidFill>
                  <a:srgbClr val="002060"/>
                </a:solidFill>
                <a:latin typeface="Times New Roman" panose="02020603050405020304" pitchFamily="18" charset="0"/>
                <a:cs typeface="Times New Roman" panose="02020603050405020304" pitchFamily="18" charset="0"/>
              </a:rPr>
              <a:t>Dept. Of CSE,SJCIT</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sz="3200" b="1" dirty="0">
                <a:latin typeface="Times New Roman" pitchFamily="18" charset="0"/>
                <a:cs typeface="Times New Roman" pitchFamily="18" charset="0"/>
              </a:rPr>
              <a:t>CONTENTS</a:t>
            </a:r>
          </a:p>
        </p:txBody>
      </p:sp>
      <p:sp>
        <p:nvSpPr>
          <p:cNvPr id="3075" name="Content Placeholder 2"/>
          <p:cNvSpPr>
            <a:spLocks noGrp="1"/>
          </p:cNvSpPr>
          <p:nvPr>
            <p:ph idx="1"/>
          </p:nvPr>
        </p:nvSpPr>
        <p:spPr>
          <a:xfrm>
            <a:off x="904009" y="1093077"/>
            <a:ext cx="10149754" cy="5318234"/>
          </a:xfrm>
        </p:spPr>
        <p:txBody>
          <a:bodyPr/>
          <a:lstStyle/>
          <a:p>
            <a:pPr marL="0" indent="0" eaLnBrk="1" hangingPunct="1">
              <a:buFont typeface="Arial" charset="0"/>
              <a:buNone/>
            </a:pPr>
            <a:r>
              <a:rPr lang="en-US" sz="2000" dirty="0">
                <a:latin typeface="Times New Roman" pitchFamily="18" charset="0"/>
                <a:cs typeface="Times New Roman" pitchFamily="18" charset="0"/>
              </a:rPr>
              <a:t>I. ABSTRACT</a:t>
            </a:r>
          </a:p>
          <a:p>
            <a:pPr marL="0" indent="0" eaLnBrk="1" hangingPunct="1">
              <a:buFont typeface="Arial" charset="0"/>
              <a:buNone/>
            </a:pPr>
            <a:r>
              <a:rPr lang="en-US" sz="2000" dirty="0">
                <a:latin typeface="Times New Roman" pitchFamily="18" charset="0"/>
                <a:cs typeface="Times New Roman" pitchFamily="18" charset="0"/>
              </a:rPr>
              <a:t>II. INTRODUCTION</a:t>
            </a:r>
          </a:p>
          <a:p>
            <a:pPr marL="0" indent="0" eaLnBrk="1" hangingPunct="1">
              <a:buFont typeface="Arial" charset="0"/>
              <a:buNone/>
            </a:pPr>
            <a:r>
              <a:rPr lang="en-US" sz="2000" dirty="0">
                <a:latin typeface="Times New Roman" pitchFamily="18" charset="0"/>
                <a:cs typeface="Times New Roman" pitchFamily="18" charset="0"/>
              </a:rPr>
              <a:t>III. LITERATURE SURVEY</a:t>
            </a:r>
          </a:p>
          <a:p>
            <a:pPr marL="0" indent="0" eaLnBrk="1" hangingPunct="1">
              <a:buFont typeface="Arial" charset="0"/>
              <a:buNone/>
            </a:pPr>
            <a:r>
              <a:rPr lang="en-US" sz="2000" dirty="0">
                <a:latin typeface="Times New Roman" pitchFamily="18" charset="0"/>
                <a:cs typeface="Times New Roman" pitchFamily="18" charset="0"/>
              </a:rPr>
              <a:t>IV. PROBLEM IDENTIFICATION &amp; DEFINITION</a:t>
            </a:r>
          </a:p>
          <a:p>
            <a:pPr marL="0" indent="0" eaLnBrk="1" hangingPunct="1">
              <a:buFont typeface="Arial" charset="0"/>
              <a:buNone/>
            </a:pPr>
            <a:r>
              <a:rPr lang="en-US" sz="2000" dirty="0">
                <a:latin typeface="Times New Roman" pitchFamily="18" charset="0"/>
                <a:cs typeface="Times New Roman" pitchFamily="18" charset="0"/>
              </a:rPr>
              <a:t>V. SIGNIFICANCE </a:t>
            </a:r>
          </a:p>
          <a:p>
            <a:pPr marL="0" indent="0" eaLnBrk="1" hangingPunct="1">
              <a:buFont typeface="Arial" charset="0"/>
              <a:buNone/>
            </a:pPr>
            <a:r>
              <a:rPr lang="en-US" sz="2000" dirty="0">
                <a:latin typeface="Times New Roman" pitchFamily="18" charset="0"/>
                <a:cs typeface="Times New Roman" pitchFamily="18" charset="0"/>
              </a:rPr>
              <a:t>VI. OBJECTIVES </a:t>
            </a:r>
          </a:p>
          <a:p>
            <a:pPr marL="0" indent="0" eaLnBrk="1" hangingPunct="1">
              <a:buNone/>
            </a:pPr>
            <a:r>
              <a:rPr lang="en-US" sz="2000" dirty="0">
                <a:latin typeface="Times New Roman" pitchFamily="18" charset="0"/>
                <a:cs typeface="Times New Roman" pitchFamily="18" charset="0"/>
              </a:rPr>
              <a:t>VII. METHODOLOGY</a:t>
            </a:r>
          </a:p>
          <a:p>
            <a:pPr marL="0" indent="0" eaLnBrk="1" hangingPunct="1">
              <a:buFont typeface="Arial" charset="0"/>
              <a:buNone/>
            </a:pPr>
            <a:r>
              <a:rPr lang="en-US" sz="2000" dirty="0">
                <a:latin typeface="Times New Roman" pitchFamily="18" charset="0"/>
                <a:cs typeface="Times New Roman" pitchFamily="18" charset="0"/>
              </a:rPr>
              <a:t>VIII. PLAN OF EXECUTION</a:t>
            </a:r>
          </a:p>
          <a:p>
            <a:pPr marL="0" indent="0" eaLnBrk="1" hangingPunct="1">
              <a:buFont typeface="Arial" charset="0"/>
              <a:buNone/>
            </a:pPr>
            <a:r>
              <a:rPr lang="en-US" sz="2000" dirty="0">
                <a:latin typeface="Times New Roman" pitchFamily="18" charset="0"/>
                <a:cs typeface="Times New Roman" pitchFamily="18" charset="0"/>
              </a:rPr>
              <a:t>IX.SYSTEM REQUIREMENTS AND SPECIFICATIONS</a:t>
            </a:r>
          </a:p>
          <a:p>
            <a:pPr marL="0" indent="0" eaLnBrk="1" hangingPunct="1">
              <a:buFont typeface="Arial" charset="0"/>
              <a:buNone/>
            </a:pPr>
            <a:r>
              <a:rPr lang="en-US" sz="2000" dirty="0">
                <a:latin typeface="Times New Roman" pitchFamily="18" charset="0"/>
                <a:cs typeface="Times New Roman" pitchFamily="18" charset="0"/>
              </a:rPr>
              <a:t>X.ANALYSIS OF THE DESIGN AND IMPLEMENTATION</a:t>
            </a:r>
          </a:p>
          <a:p>
            <a:pPr marL="0" indent="0" eaLnBrk="1" hangingPunct="1">
              <a:buFont typeface="Arial" charset="0"/>
              <a:buNone/>
            </a:pPr>
            <a:r>
              <a:rPr lang="en-US" sz="2000" dirty="0">
                <a:latin typeface="Times New Roman" pitchFamily="18" charset="0"/>
                <a:cs typeface="Times New Roman" pitchFamily="18" charset="0"/>
              </a:rPr>
              <a:t>XI. RESULTS AND DISCUSION</a:t>
            </a:r>
          </a:p>
          <a:p>
            <a:pPr marL="0" indent="0" eaLnBrk="1" hangingPunct="1">
              <a:buFont typeface="Arial" charset="0"/>
              <a:buNone/>
            </a:pPr>
            <a:r>
              <a:rPr lang="en-US" sz="2000" dirty="0">
                <a:latin typeface="Times New Roman" pitchFamily="18" charset="0"/>
                <a:cs typeface="Times New Roman" pitchFamily="18" charset="0"/>
              </a:rPr>
              <a:t>XII. CONCLUSION AND FUTURE ENHANCEMENTS</a:t>
            </a:r>
          </a:p>
          <a:p>
            <a:pPr marL="0" indent="0" eaLnBrk="1" hangingPunct="1">
              <a:buFont typeface="Arial" charset="0"/>
              <a:buNone/>
            </a:pPr>
            <a:r>
              <a:rPr lang="en-US" sz="2000" dirty="0">
                <a:latin typeface="Times New Roman" pitchFamily="18" charset="0"/>
                <a:cs typeface="Times New Roman" pitchFamily="18" charset="0"/>
              </a:rPr>
              <a:t>Bibliography</a:t>
            </a:r>
          </a:p>
        </p:txBody>
      </p:sp>
      <p:sp>
        <p:nvSpPr>
          <p:cNvPr id="4" name="Footer Placeholder 3"/>
          <p:cNvSpPr>
            <a:spLocks noGrp="1"/>
          </p:cNvSpPr>
          <p:nvPr>
            <p:ph type="ftr" sz="quarter" idx="11"/>
          </p:nvPr>
        </p:nvSpPr>
        <p:spPr/>
        <p:txBody>
          <a:bodyPr/>
          <a:lstStyle/>
          <a:p>
            <a:pPr>
              <a:defRPr/>
            </a:pPr>
            <a:r>
              <a:rPr lang="en-US" b="1" dirty="0">
                <a:latin typeface="Times New Roman" pitchFamily="18" charset="0"/>
                <a:cs typeface="Times New Roman" pitchFamily="18" charset="0"/>
              </a:rPr>
              <a:t>Dept. of CSE, SJCIT</a:t>
            </a:r>
          </a:p>
        </p:txBody>
      </p:sp>
      <p:sp>
        <p:nvSpPr>
          <p:cNvPr id="5" name="Slide Number Placeholder 4"/>
          <p:cNvSpPr>
            <a:spLocks noGrp="1"/>
          </p:cNvSpPr>
          <p:nvPr>
            <p:ph type="sldNum" sz="quarter" idx="12"/>
          </p:nvPr>
        </p:nvSpPr>
        <p:spPr/>
        <p:txBody>
          <a:bodyPr/>
          <a:lstStyle/>
          <a:p>
            <a:pPr>
              <a:defRPr/>
            </a:pPr>
            <a:fld id="{AD5E59E0-17D6-407F-846F-AC252CE09AC1}" type="slidenum">
              <a:rPr lang="en-US" b="1">
                <a:latin typeface="Times New Roman" pitchFamily="18" charset="0"/>
                <a:cs typeface="Times New Roman" pitchFamily="18" charset="0"/>
              </a:rPr>
              <a:pPr>
                <a:defRPr/>
              </a:pPr>
              <a:t>2</a:t>
            </a:fld>
            <a:endParaRPr lang="en-US" b="1"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722313" y="398463"/>
            <a:ext cx="7688262" cy="1042987"/>
          </a:xfrm>
        </p:spPr>
        <p:txBody>
          <a:bodyPr/>
          <a:lstStyle/>
          <a:p>
            <a:pPr eaLnBrk="1" hangingPunct="1"/>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 ABSTRACT</a:t>
            </a:r>
          </a:p>
        </p:txBody>
      </p:sp>
      <p:sp>
        <p:nvSpPr>
          <p:cNvPr id="4099" name="Content Placeholder 2"/>
          <p:cNvSpPr>
            <a:spLocks noGrp="1"/>
          </p:cNvSpPr>
          <p:nvPr>
            <p:ph idx="1"/>
          </p:nvPr>
        </p:nvSpPr>
        <p:spPr>
          <a:xfrm>
            <a:off x="812800" y="1390650"/>
            <a:ext cx="10668000" cy="4675188"/>
          </a:xfrm>
        </p:spPr>
        <p:txBody>
          <a:bodyPr/>
          <a:lstStyle/>
          <a:p>
            <a:pPr marL="0" indent="0" algn="just" eaLnBrk="1" hangingPunct="1">
              <a:buNone/>
            </a:pPr>
            <a:endParaRPr lang="en-US" sz="2400" dirty="0">
              <a:latin typeface="Times New Roman" panose="02020603050405020304" pitchFamily="18" charset="0"/>
              <a:cs typeface="Times New Roman" panose="02020603050405020304" pitchFamily="18" charset="0"/>
            </a:endParaRPr>
          </a:p>
          <a:p>
            <a:pPr marL="0" indent="0" algn="just" eaLnBrk="1" hangingPunct="1">
              <a:buNone/>
            </a:pPr>
            <a:r>
              <a:rPr lang="en-US" sz="2400" dirty="0">
                <a:latin typeface="Times New Roman" panose="02020603050405020304" pitchFamily="18" charset="0"/>
                <a:cs typeface="Times New Roman" panose="02020603050405020304" pitchFamily="18" charset="0"/>
              </a:rPr>
              <a:t>In the digital age, blogging has emerged as a powerful medium for individuals to express ideas, share information, and engage with a wide audience. This mini-project aims to develop a fully functional blogging website using HTML, CSS, and JavaScript, focusing on simplicity, responsiveness, and user-friendliness.</a:t>
            </a:r>
          </a:p>
          <a:p>
            <a:pPr marL="0" indent="0" algn="just" eaLnBrk="1" hangingPunct="1">
              <a:buNone/>
            </a:pPr>
            <a:r>
              <a:rPr lang="en-US" sz="2400" dirty="0">
                <a:latin typeface="Times New Roman" panose="02020603050405020304" pitchFamily="18" charset="0"/>
                <a:cs typeface="Times New Roman" panose="02020603050405020304" pitchFamily="18" charset="0"/>
              </a:rPr>
              <a:t>HTML will structure the content, CSS will ensure a visually appealing and responsive design, and JavaScript will handle dynamic interactions and </a:t>
            </a:r>
            <a:r>
              <a:rPr lang="en-US" sz="2400" dirty="0" smtClean="0">
                <a:latin typeface="Times New Roman" panose="02020603050405020304" pitchFamily="18" charset="0"/>
                <a:cs typeface="Times New Roman" panose="02020603050405020304" pitchFamily="18" charset="0"/>
              </a:rPr>
              <a:t>functionalities. The Mini project </a:t>
            </a:r>
            <a:r>
              <a:rPr lang="en-US" sz="2400" dirty="0">
                <a:latin typeface="Times New Roman" panose="02020603050405020304" pitchFamily="18" charset="0"/>
                <a:cs typeface="Times New Roman" panose="02020603050405020304" pitchFamily="18" charset="0"/>
              </a:rPr>
              <a:t>will also incorporate basic security measures to protect user data and provide a smooth and engaging user experience. </a:t>
            </a:r>
          </a:p>
        </p:txBody>
      </p:sp>
      <p:sp>
        <p:nvSpPr>
          <p:cNvPr id="5" name="Slide Number Placeholder 4"/>
          <p:cNvSpPr>
            <a:spLocks noGrp="1"/>
          </p:cNvSpPr>
          <p:nvPr>
            <p:ph type="sldNum" sz="quarter" idx="12"/>
          </p:nvPr>
        </p:nvSpPr>
        <p:spPr/>
        <p:txBody>
          <a:bodyPr/>
          <a:lstStyle/>
          <a:p>
            <a:pPr>
              <a:defRPr/>
            </a:pPr>
            <a:fld id="{852E21DD-684C-436D-993C-56D19137C848}" type="slidenum">
              <a:rPr lang="en-US"/>
              <a:pPr>
                <a:defRPr/>
              </a:pPr>
              <a:t>3</a:t>
            </a:fld>
            <a:endParaRPr lang="en-US" dirty="0"/>
          </a:p>
        </p:txBody>
      </p:sp>
      <p:sp>
        <p:nvSpPr>
          <p:cNvPr id="6" name="Footer Placeholder 3"/>
          <p:cNvSpPr>
            <a:spLocks noGrp="1"/>
          </p:cNvSpPr>
          <p:nvPr>
            <p:ph type="ftr" sz="quarter" idx="11"/>
          </p:nvPr>
        </p:nvSpPr>
        <p:spPr/>
        <p:txBody>
          <a:bodyPr/>
          <a:lstStyle/>
          <a:p>
            <a:pPr>
              <a:defRPr/>
            </a:pPr>
            <a:r>
              <a:rPr lang="en-US" b="1" dirty="0">
                <a:latin typeface="Times New Roman" pitchFamily="18" charset="0"/>
                <a:cs typeface="Times New Roman" pitchFamily="18" charset="0"/>
              </a:rPr>
              <a:t>Dept. of CSE, SJCIT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1624013" y="274638"/>
            <a:ext cx="7472362" cy="1143000"/>
          </a:xfrm>
        </p:spPr>
        <p:txBody>
          <a:bodyPr/>
          <a:lstStyle/>
          <a:p>
            <a:pPr eaLnBrk="1" hangingPunct="1"/>
            <a:r>
              <a:rPr lang="en-US" sz="3200" b="1" dirty="0">
                <a:latin typeface="Times New Roman" pitchFamily="18" charset="0"/>
                <a:cs typeface="Times New Roman" pitchFamily="18" charset="0"/>
              </a:rPr>
              <a:t>            INTRODUCTION</a:t>
            </a:r>
          </a:p>
        </p:txBody>
      </p:sp>
      <p:sp>
        <p:nvSpPr>
          <p:cNvPr id="3" name="Content Placeholder 2"/>
          <p:cNvSpPr>
            <a:spLocks noGrp="1"/>
          </p:cNvSpPr>
          <p:nvPr>
            <p:ph idx="1"/>
          </p:nvPr>
        </p:nvSpPr>
        <p:spPr>
          <a:xfrm>
            <a:off x="634482" y="1364778"/>
            <a:ext cx="10947918" cy="4336226"/>
          </a:xfrm>
        </p:spPr>
        <p:txBody>
          <a:bodyPr rtlCol="0">
            <a:normAutofit/>
          </a:bodyPr>
          <a:lstStyle/>
          <a:p>
            <a:pPr marL="0" indent="0" eaLnBrk="1" fontAlgn="auto" hangingPunct="1">
              <a:spcAft>
                <a:spcPts val="0"/>
              </a:spcAft>
              <a:buFont typeface="Arial" pitchFamily="34" charset="0"/>
              <a:buNone/>
              <a:defRPr/>
            </a:pPr>
            <a:endParaRPr lang="en-US" sz="2600" dirty="0">
              <a:latin typeface="Times New Roman" panose="02020603050405020304" pitchFamily="18" charset="0"/>
              <a:cs typeface="Times New Roman" panose="02020603050405020304" pitchFamily="18" charset="0"/>
            </a:endParaRPr>
          </a:p>
          <a:p>
            <a:pPr eaLnBrk="1" fontAlgn="auto" hangingPunct="1">
              <a:spcAft>
                <a:spcPts val="0"/>
              </a:spcAft>
              <a:buFont typeface="Arial" pitchFamily="34" charset="0"/>
              <a:buChar char="•"/>
              <a:defRPr/>
            </a:pPr>
            <a:endParaRPr lang="en-US" dirty="0"/>
          </a:p>
        </p:txBody>
      </p:sp>
      <p:sp>
        <p:nvSpPr>
          <p:cNvPr id="5" name="Slide Number Placeholder 4"/>
          <p:cNvSpPr>
            <a:spLocks noGrp="1"/>
          </p:cNvSpPr>
          <p:nvPr>
            <p:ph type="sldNum" sz="quarter" idx="12"/>
          </p:nvPr>
        </p:nvSpPr>
        <p:spPr/>
        <p:txBody>
          <a:bodyPr/>
          <a:lstStyle/>
          <a:p>
            <a:pPr>
              <a:defRPr/>
            </a:pPr>
            <a:fld id="{7C2F7E0E-0530-4147-860D-B7134606320A}" type="slidenum">
              <a:rPr lang="en-US"/>
              <a:pPr>
                <a:defRPr/>
              </a:pPr>
              <a:t>4</a:t>
            </a:fld>
            <a:endParaRPr lang="en-US"/>
          </a:p>
        </p:txBody>
      </p:sp>
      <p:sp>
        <p:nvSpPr>
          <p:cNvPr id="6" name="Footer Placeholder 3"/>
          <p:cNvSpPr>
            <a:spLocks noGrp="1"/>
          </p:cNvSpPr>
          <p:nvPr>
            <p:ph type="ftr" sz="quarter" idx="11"/>
          </p:nvPr>
        </p:nvSpPr>
        <p:spPr/>
        <p:txBody>
          <a:bodyPr/>
          <a:lstStyle/>
          <a:p>
            <a:pPr>
              <a:defRPr/>
            </a:pPr>
            <a:r>
              <a:rPr lang="en-US" b="1" dirty="0">
                <a:latin typeface="Times New Roman" pitchFamily="18" charset="0"/>
                <a:cs typeface="Times New Roman" pitchFamily="18" charset="0"/>
              </a:rPr>
              <a:t>Dept. of CSE, SJCIT</a:t>
            </a:r>
          </a:p>
        </p:txBody>
      </p:sp>
      <p:sp>
        <p:nvSpPr>
          <p:cNvPr id="8" name="Rectangle 7"/>
          <p:cNvSpPr/>
          <p:nvPr/>
        </p:nvSpPr>
        <p:spPr>
          <a:xfrm>
            <a:off x="736979" y="1364777"/>
            <a:ext cx="10577015" cy="2677656"/>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This mini project aims to develop a responsive and user-friendly blogging website using HTML, CSS, and JavaScript. Users must log in to access the home page, featuring three categories: Food, Lifestyle, and Technology. They can create blog posts within these categories, and the data is stored in the database. Key features of our mini project include secure user authentication, responsive design, dynamic interactions. The goal is to provide a versatile platform for bloggers, ensuring security and scalability.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630363" y="377825"/>
            <a:ext cx="8910637" cy="1111341"/>
          </a:xfrm>
        </p:spPr>
        <p:txBody>
          <a:bodyPr/>
          <a:lstStyle/>
          <a:p>
            <a:pPr eaLnBrk="1" hangingPunct="1"/>
            <a:r>
              <a:rPr lang="en-US" sz="3200" b="1" dirty="0">
                <a:latin typeface="Times New Roman" pitchFamily="18" charset="0"/>
                <a:cs typeface="Times New Roman" pitchFamily="18" charset="0"/>
              </a:rPr>
              <a:t>LITERATURE SURVEY</a:t>
            </a:r>
          </a:p>
        </p:txBody>
      </p:sp>
      <p:sp>
        <p:nvSpPr>
          <p:cNvPr id="5" name="Slide Number Placeholder 4"/>
          <p:cNvSpPr>
            <a:spLocks noGrp="1"/>
          </p:cNvSpPr>
          <p:nvPr>
            <p:ph type="sldNum" sz="quarter" idx="12"/>
          </p:nvPr>
        </p:nvSpPr>
        <p:spPr/>
        <p:txBody>
          <a:bodyPr/>
          <a:lstStyle/>
          <a:p>
            <a:pPr>
              <a:defRPr/>
            </a:pPr>
            <a:fld id="{BA154A63-1081-40A5-84B2-54B61F186320}" type="slidenum">
              <a:rPr lang="en-US"/>
              <a:pPr>
                <a:defRPr/>
              </a:pPr>
              <a:t>5</a:t>
            </a:fld>
            <a:endParaRPr lang="en-US"/>
          </a:p>
        </p:txBody>
      </p:sp>
      <p:graphicFrame>
        <p:nvGraphicFramePr>
          <p:cNvPr id="6" name="Content Placeholder 5"/>
          <p:cNvGraphicFramePr>
            <a:graphicFrameLocks noGrp="1"/>
          </p:cNvGraphicFramePr>
          <p:nvPr>
            <p:ph idx="1"/>
          </p:nvPr>
        </p:nvGraphicFramePr>
        <p:xfrm>
          <a:off x="609598" y="1600200"/>
          <a:ext cx="11001830" cy="4686675"/>
        </p:xfrm>
        <a:graphic>
          <a:graphicData uri="http://schemas.openxmlformats.org/drawingml/2006/table">
            <a:tbl>
              <a:tblPr firstRow="1" bandRow="1">
                <a:tableStyleId>{5940675A-B579-460E-94D1-54222C63F5DA}</a:tableStyleId>
              </a:tblPr>
              <a:tblGrid>
                <a:gridCol w="1640116">
                  <a:extLst>
                    <a:ext uri="{9D8B030D-6E8A-4147-A177-3AD203B41FA5}">
                      <a16:colId xmlns:a16="http://schemas.microsoft.com/office/drawing/2014/main" xmlns="" val="20000"/>
                    </a:ext>
                  </a:extLst>
                </a:gridCol>
                <a:gridCol w="2510972">
                  <a:extLst>
                    <a:ext uri="{9D8B030D-6E8A-4147-A177-3AD203B41FA5}">
                      <a16:colId xmlns:a16="http://schemas.microsoft.com/office/drawing/2014/main" xmlns="" val="20001"/>
                    </a:ext>
                  </a:extLst>
                </a:gridCol>
                <a:gridCol w="2450010">
                  <a:extLst>
                    <a:ext uri="{9D8B030D-6E8A-4147-A177-3AD203B41FA5}">
                      <a16:colId xmlns:a16="http://schemas.microsoft.com/office/drawing/2014/main" xmlns="" val="20002"/>
                    </a:ext>
                  </a:extLst>
                </a:gridCol>
                <a:gridCol w="2200366">
                  <a:extLst>
                    <a:ext uri="{9D8B030D-6E8A-4147-A177-3AD203B41FA5}">
                      <a16:colId xmlns:a16="http://schemas.microsoft.com/office/drawing/2014/main" xmlns="" val="20003"/>
                    </a:ext>
                  </a:extLst>
                </a:gridCol>
                <a:gridCol w="2200366">
                  <a:extLst>
                    <a:ext uri="{9D8B030D-6E8A-4147-A177-3AD203B41FA5}">
                      <a16:colId xmlns:a16="http://schemas.microsoft.com/office/drawing/2014/main" xmlns="" val="20004"/>
                    </a:ext>
                  </a:extLst>
                </a:gridCol>
              </a:tblGrid>
              <a:tr h="861934">
                <a:tc>
                  <a:txBody>
                    <a:bodyPr/>
                    <a:lstStyle/>
                    <a:p>
                      <a:r>
                        <a:rPr lang="en-IN" b="1" dirty="0">
                          <a:solidFill>
                            <a:schemeClr val="bg1"/>
                          </a:solidFill>
                        </a:rPr>
                        <a:t>Title</a:t>
                      </a:r>
                      <a:endParaRPr lang="en-US" b="1" dirty="0">
                        <a:solidFill>
                          <a:schemeClr val="bg1"/>
                        </a:solidFill>
                      </a:endParaRPr>
                    </a:p>
                  </a:txBody>
                  <a:tcPr>
                    <a:solidFill>
                      <a:schemeClr val="tx2">
                        <a:lumMod val="60000"/>
                        <a:lumOff val="40000"/>
                      </a:schemeClr>
                    </a:solidFill>
                  </a:tcPr>
                </a:tc>
                <a:tc>
                  <a:txBody>
                    <a:bodyPr/>
                    <a:lstStyle/>
                    <a:p>
                      <a:r>
                        <a:rPr lang="en-US" dirty="0"/>
                        <a:t>Bridging the Gap: A Genre Analysis of Weblogs</a:t>
                      </a:r>
                    </a:p>
                  </a:txBody>
                  <a:tcPr>
                    <a:solidFill>
                      <a:schemeClr val="tx2">
                        <a:lumMod val="20000"/>
                        <a:lumOff val="80000"/>
                      </a:schemeClr>
                    </a:solidFill>
                  </a:tcPr>
                </a:tc>
                <a:tc>
                  <a:txBody>
                    <a:bodyPr/>
                    <a:lstStyle/>
                    <a:p>
                      <a:r>
                        <a:rPr lang="en-US" dirty="0"/>
                        <a:t>Blogging as Social Activity</a:t>
                      </a:r>
                    </a:p>
                  </a:txBody>
                  <a:tcPr>
                    <a:solidFill>
                      <a:schemeClr val="tx2">
                        <a:lumMod val="20000"/>
                        <a:lumOff val="80000"/>
                      </a:schemeClr>
                    </a:solidFill>
                  </a:tcPr>
                </a:tc>
                <a:tc>
                  <a:txBody>
                    <a:bodyPr/>
                    <a:lstStyle/>
                    <a:p>
                      <a:r>
                        <a:rPr lang="en-US" dirty="0"/>
                        <a:t> Effectiveness of Blogging</a:t>
                      </a:r>
                    </a:p>
                  </a:txBody>
                  <a:tcPr>
                    <a:solidFill>
                      <a:schemeClr val="tx2">
                        <a:lumMod val="20000"/>
                        <a:lumOff val="80000"/>
                      </a:schemeClr>
                    </a:solidFill>
                  </a:tcPr>
                </a:tc>
                <a:tc>
                  <a:txBody>
                    <a:bodyPr/>
                    <a:lstStyle/>
                    <a:p>
                      <a:r>
                        <a:rPr lang="en-US" dirty="0"/>
                        <a:t>Blogging to Enhance Language Skills</a:t>
                      </a:r>
                    </a:p>
                  </a:txBody>
                  <a:tcPr>
                    <a:solidFill>
                      <a:schemeClr val="tx2">
                        <a:lumMod val="20000"/>
                        <a:lumOff val="80000"/>
                      </a:schemeClr>
                    </a:solidFill>
                  </a:tcPr>
                </a:tc>
                <a:extLst>
                  <a:ext uri="{0D108BD9-81ED-4DB2-BD59-A6C34878D82A}">
                    <a16:rowId xmlns:a16="http://schemas.microsoft.com/office/drawing/2014/main" xmlns="" val="10000"/>
                  </a:ext>
                </a:extLst>
              </a:tr>
              <a:tr h="1120515">
                <a:tc>
                  <a:txBody>
                    <a:bodyPr/>
                    <a:lstStyle/>
                    <a:p>
                      <a:r>
                        <a:rPr lang="en-IN" b="1" dirty="0">
                          <a:solidFill>
                            <a:schemeClr val="bg1"/>
                          </a:solidFill>
                        </a:rPr>
                        <a:t>Authors</a:t>
                      </a:r>
                      <a:endParaRPr lang="en-US" b="1" dirty="0">
                        <a:solidFill>
                          <a:schemeClr val="bg1"/>
                        </a:solidFill>
                      </a:endParaRPr>
                    </a:p>
                  </a:txBody>
                  <a:tcPr>
                    <a:solidFill>
                      <a:schemeClr val="tx2">
                        <a:lumMod val="60000"/>
                        <a:lumOff val="40000"/>
                      </a:schemeClr>
                    </a:solidFill>
                  </a:tcPr>
                </a:tc>
                <a:tc>
                  <a:txBody>
                    <a:bodyPr/>
                    <a:lstStyle/>
                    <a:p>
                      <a:r>
                        <a:rPr lang="de-DE" dirty="0"/>
                        <a:t>Herring, S. C., Scheidt, L. A., Bonus, S., Wright, E.</a:t>
                      </a:r>
                      <a:endParaRPr lang="en-US" dirty="0"/>
                    </a:p>
                  </a:txBody>
                  <a:tcPr>
                    <a:solidFill>
                      <a:schemeClr val="tx2">
                        <a:lumMod val="20000"/>
                        <a:lumOff val="80000"/>
                      </a:schemeClr>
                    </a:solidFill>
                  </a:tcPr>
                </a:tc>
                <a:tc>
                  <a:txBody>
                    <a:bodyPr/>
                    <a:lstStyle/>
                    <a:p>
                      <a:r>
                        <a:rPr lang="it-IT" dirty="0"/>
                        <a:t>Nardi, B., Schiano, D., Gumbrecht, M.</a:t>
                      </a:r>
                      <a:endParaRPr lang="en-US" dirty="0"/>
                    </a:p>
                  </a:txBody>
                  <a:tcPr>
                    <a:solidFill>
                      <a:schemeClr val="tx2">
                        <a:lumMod val="20000"/>
                        <a:lumOff val="80000"/>
                      </a:schemeClr>
                    </a:solidFill>
                  </a:tcPr>
                </a:tc>
                <a:tc>
                  <a:txBody>
                    <a:bodyPr/>
                    <a:lstStyle/>
                    <a:p>
                      <a:r>
                        <a:rPr lang="en-US" dirty="0" err="1"/>
                        <a:t>Sahil</a:t>
                      </a:r>
                      <a:r>
                        <a:rPr lang="en-US" dirty="0"/>
                        <a:t> Hans, Shaik </a:t>
                      </a:r>
                      <a:r>
                        <a:rPr lang="en-US" dirty="0" err="1"/>
                        <a:t>Maqsad</a:t>
                      </a:r>
                      <a:r>
                        <a:rPr lang="en-US" dirty="0"/>
                        <a:t>, </a:t>
                      </a:r>
                      <a:r>
                        <a:rPr lang="en-US" dirty="0" err="1"/>
                        <a:t>Aditya</a:t>
                      </a:r>
                      <a:r>
                        <a:rPr lang="en-US" dirty="0"/>
                        <a:t> </a:t>
                      </a:r>
                      <a:r>
                        <a:rPr lang="en-US" dirty="0" err="1"/>
                        <a:t>Narayan</a:t>
                      </a:r>
                      <a:r>
                        <a:rPr lang="en-US" dirty="0"/>
                        <a:t> Swami.</a:t>
                      </a:r>
                    </a:p>
                  </a:txBody>
                  <a:tcPr>
                    <a:solidFill>
                      <a:schemeClr val="tx2">
                        <a:lumMod val="20000"/>
                        <a:lumOff val="80000"/>
                      </a:schemeClr>
                    </a:solidFill>
                  </a:tcPr>
                </a:tc>
                <a:tc>
                  <a:txBody>
                    <a:bodyPr/>
                    <a:lstStyle/>
                    <a:p>
                      <a:r>
                        <a:rPr lang="en-US" dirty="0" err="1"/>
                        <a:t>Begona</a:t>
                      </a:r>
                      <a:r>
                        <a:rPr lang="en-US" dirty="0"/>
                        <a:t> Montero-</a:t>
                      </a:r>
                      <a:r>
                        <a:rPr lang="en-US" dirty="0" err="1"/>
                        <a:t>Fletaa</a:t>
                      </a:r>
                      <a:r>
                        <a:rPr lang="en-US" dirty="0"/>
                        <a:t>, Carmen </a:t>
                      </a:r>
                      <a:r>
                        <a:rPr lang="en-US" dirty="0" err="1"/>
                        <a:t>Pérez-Sabaterb</a:t>
                      </a:r>
                      <a:r>
                        <a:rPr lang="en-US" dirty="0"/>
                        <a:t>.</a:t>
                      </a:r>
                    </a:p>
                  </a:txBody>
                  <a:tcPr>
                    <a:solidFill>
                      <a:schemeClr val="tx2">
                        <a:lumMod val="20000"/>
                        <a:lumOff val="80000"/>
                      </a:schemeClr>
                    </a:solidFill>
                  </a:tcPr>
                </a:tc>
                <a:extLst>
                  <a:ext uri="{0D108BD9-81ED-4DB2-BD59-A6C34878D82A}">
                    <a16:rowId xmlns:a16="http://schemas.microsoft.com/office/drawing/2014/main" xmlns="" val="10001"/>
                  </a:ext>
                </a:extLst>
              </a:tr>
              <a:tr h="1604542">
                <a:tc>
                  <a:txBody>
                    <a:bodyPr/>
                    <a:lstStyle/>
                    <a:p>
                      <a:r>
                        <a:rPr lang="en-IN" b="1" dirty="0">
                          <a:solidFill>
                            <a:schemeClr val="bg1"/>
                          </a:solidFill>
                        </a:rPr>
                        <a:t>Key points</a:t>
                      </a:r>
                      <a:endParaRPr lang="en-US" b="1" dirty="0">
                        <a:solidFill>
                          <a:schemeClr val="bg1"/>
                        </a:solidFill>
                      </a:endParaRPr>
                    </a:p>
                  </a:txBody>
                  <a:tcPr>
                    <a:solidFill>
                      <a:schemeClr val="tx2">
                        <a:lumMod val="60000"/>
                        <a:lumOff val="40000"/>
                      </a:schemeClr>
                    </a:solidFill>
                  </a:tcPr>
                </a:tc>
                <a:tc>
                  <a:txBody>
                    <a:bodyPr/>
                    <a:lstStyle/>
                    <a:p>
                      <a:r>
                        <a:rPr lang="en-US" dirty="0"/>
                        <a:t>Analyzes different types of weblogs.</a:t>
                      </a:r>
                    </a:p>
                    <a:p>
                      <a:r>
                        <a:rPr lang="en-US" dirty="0"/>
                        <a:t>Explores how blogs blend personal and professional content.</a:t>
                      </a:r>
                    </a:p>
                  </a:txBody>
                  <a:tcPr>
                    <a:solidFill>
                      <a:schemeClr val="tx2">
                        <a:lumMod val="20000"/>
                        <a:lumOff val="80000"/>
                      </a:schemeClr>
                    </a:solidFill>
                  </a:tcPr>
                </a:tc>
                <a:tc>
                  <a:txBody>
                    <a:bodyPr/>
                    <a:lstStyle/>
                    <a:p>
                      <a:r>
                        <a:rPr lang="en-US" dirty="0"/>
                        <a:t>Investigates blogging as a social activity.</a:t>
                      </a:r>
                    </a:p>
                    <a:p>
                      <a:r>
                        <a:rPr lang="en-US" dirty="0"/>
                        <a:t> Discusses the large audience reach and personal expression.</a:t>
                      </a:r>
                    </a:p>
                  </a:txBody>
                  <a:tcPr>
                    <a:solidFill>
                      <a:schemeClr val="tx2">
                        <a:lumMod val="20000"/>
                        <a:lumOff val="80000"/>
                      </a:schemeClr>
                    </a:solidFill>
                  </a:tcPr>
                </a:tc>
                <a:tc>
                  <a:txBody>
                    <a:bodyPr/>
                    <a:lstStyle/>
                    <a:p>
                      <a:r>
                        <a:rPr lang="en-US" dirty="0"/>
                        <a:t>Highlights </a:t>
                      </a:r>
                      <a:r>
                        <a:rPr lang="en-US" dirty="0" err="1"/>
                        <a:t>blogging's</a:t>
                      </a:r>
                      <a:r>
                        <a:rPr lang="en-US" dirty="0"/>
                        <a:t> impact on sharing, marketing, education, and data analysis.</a:t>
                      </a:r>
                    </a:p>
                    <a:p>
                      <a:r>
                        <a:rPr lang="en-US" dirty="0"/>
                        <a:t> </a:t>
                      </a:r>
                    </a:p>
                  </a:txBody>
                  <a:tcPr>
                    <a:solidFill>
                      <a:schemeClr val="tx2">
                        <a:lumMod val="20000"/>
                        <a:lumOff val="80000"/>
                      </a:schemeClr>
                    </a:solidFill>
                  </a:tcPr>
                </a:tc>
                <a:tc>
                  <a:txBody>
                    <a:bodyPr/>
                    <a:lstStyle/>
                    <a:p>
                      <a:r>
                        <a:rPr lang="en-US" dirty="0"/>
                        <a:t>Studies blogging in the classroom to improve writing and motivation.</a:t>
                      </a:r>
                    </a:p>
                  </a:txBody>
                  <a:tcPr>
                    <a:solidFill>
                      <a:schemeClr val="tx2">
                        <a:lumMod val="20000"/>
                        <a:lumOff val="80000"/>
                      </a:schemeClr>
                    </a:solidFill>
                  </a:tcPr>
                </a:tc>
                <a:extLst>
                  <a:ext uri="{0D108BD9-81ED-4DB2-BD59-A6C34878D82A}">
                    <a16:rowId xmlns:a16="http://schemas.microsoft.com/office/drawing/2014/main" xmlns="" val="10002"/>
                  </a:ext>
                </a:extLst>
              </a:tr>
              <a:tr h="861934">
                <a:tc>
                  <a:txBody>
                    <a:bodyPr/>
                    <a:lstStyle/>
                    <a:p>
                      <a:r>
                        <a:rPr lang="en-IN" b="1" dirty="0">
                          <a:solidFill>
                            <a:schemeClr val="bg1"/>
                          </a:solidFill>
                        </a:rPr>
                        <a:t>Source</a:t>
                      </a:r>
                      <a:endParaRPr lang="en-US" b="1" dirty="0">
                        <a:solidFill>
                          <a:schemeClr val="bg1"/>
                        </a:solidFill>
                      </a:endParaRPr>
                    </a:p>
                  </a:txBody>
                  <a:tcPr>
                    <a:solidFill>
                      <a:schemeClr val="tx2">
                        <a:lumMod val="60000"/>
                        <a:lumOff val="40000"/>
                      </a:schemeClr>
                    </a:solidFill>
                  </a:tcPr>
                </a:tc>
                <a:tc>
                  <a:txBody>
                    <a:bodyPr/>
                    <a:lstStyle/>
                    <a:p>
                      <a:r>
                        <a:rPr lang="en-US" dirty="0"/>
                        <a:t>IEEE Computer Society Press.</a:t>
                      </a:r>
                    </a:p>
                  </a:txBody>
                  <a:tcPr>
                    <a:solidFill>
                      <a:schemeClr val="tx2">
                        <a:lumMod val="20000"/>
                        <a:lumOff val="80000"/>
                      </a:schemeClr>
                    </a:solidFill>
                  </a:tcPr>
                </a:tc>
                <a:tc>
                  <a:txBody>
                    <a:bodyPr/>
                    <a:lstStyle/>
                    <a:p>
                      <a:r>
                        <a:rPr lang="en-US" dirty="0"/>
                        <a:t> Proceedings of CSCW2004.</a:t>
                      </a:r>
                    </a:p>
                  </a:txBody>
                  <a:tcPr>
                    <a:solidFill>
                      <a:schemeClr val="tx2">
                        <a:lumMod val="20000"/>
                        <a:lumOff val="80000"/>
                      </a:schemeClr>
                    </a:solidFill>
                  </a:tcPr>
                </a:tc>
                <a:tc>
                  <a:txBody>
                    <a:bodyPr/>
                    <a:lstStyle/>
                    <a:p>
                      <a:r>
                        <a:rPr lang="en-US" dirty="0"/>
                        <a:t> Research paper.</a:t>
                      </a:r>
                    </a:p>
                  </a:txBody>
                  <a:tcPr>
                    <a:solidFill>
                      <a:schemeClr val="tx2">
                        <a:lumMod val="20000"/>
                        <a:lumOff val="80000"/>
                      </a:schemeClr>
                    </a:solidFill>
                  </a:tcPr>
                </a:tc>
                <a:tc>
                  <a:txBody>
                    <a:bodyPr/>
                    <a:lstStyle/>
                    <a:p>
                      <a:r>
                        <a:rPr lang="en-US" dirty="0"/>
                        <a:t>Universidad </a:t>
                      </a:r>
                      <a:r>
                        <a:rPr lang="en-US" dirty="0" err="1"/>
                        <a:t>Politecnica</a:t>
                      </a:r>
                      <a:r>
                        <a:rPr lang="en-US" dirty="0"/>
                        <a:t> de Valencia.</a:t>
                      </a:r>
                    </a:p>
                  </a:txBody>
                  <a:tcPr>
                    <a:solidFill>
                      <a:schemeClr val="tx2">
                        <a:lumMod val="20000"/>
                        <a:lumOff val="80000"/>
                      </a:schemeClr>
                    </a:solidFill>
                  </a:tcPr>
                </a:tc>
                <a:extLst>
                  <a:ext uri="{0D108BD9-81ED-4DB2-BD59-A6C34878D82A}">
                    <a16:rowId xmlns:a16="http://schemas.microsoft.com/office/drawing/2014/main" xmlns="" val="10003"/>
                  </a:ext>
                </a:extLst>
              </a:tr>
            </a:tbl>
          </a:graphicData>
        </a:graphic>
      </p:graphicFrame>
      <p:sp>
        <p:nvSpPr>
          <p:cNvPr id="7" name="Footer Placeholder 3"/>
          <p:cNvSpPr>
            <a:spLocks noGrp="1"/>
          </p:cNvSpPr>
          <p:nvPr>
            <p:ph type="ftr" sz="quarter" idx="11"/>
          </p:nvPr>
        </p:nvSpPr>
        <p:spPr/>
        <p:txBody>
          <a:bodyPr/>
          <a:lstStyle/>
          <a:p>
            <a:pPr>
              <a:defRPr/>
            </a:pPr>
            <a:r>
              <a:rPr lang="en-US" b="1" dirty="0">
                <a:latin typeface="Times New Roman" pitchFamily="18" charset="0"/>
                <a:cs typeface="Times New Roman" pitchFamily="18" charset="0"/>
              </a:rPr>
              <a:t>Dept. of CSE, SJCIT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sz="3200" b="1" dirty="0">
                <a:latin typeface="Times New Roman" pitchFamily="18" charset="0"/>
                <a:cs typeface="Times New Roman" pitchFamily="18" charset="0"/>
              </a:rPr>
              <a:t>PROBLEM IDENTIFICATION &amp; DEFINITION</a:t>
            </a:r>
          </a:p>
        </p:txBody>
      </p:sp>
      <p:sp>
        <p:nvSpPr>
          <p:cNvPr id="7171" name="Content Placeholder 2"/>
          <p:cNvSpPr>
            <a:spLocks noGrp="1"/>
          </p:cNvSpPr>
          <p:nvPr>
            <p:ph idx="1"/>
          </p:nvPr>
        </p:nvSpPr>
        <p:spPr>
          <a:xfrm>
            <a:off x="827314" y="1600200"/>
            <a:ext cx="10508343" cy="4525963"/>
          </a:xfrm>
        </p:spPr>
        <p:txBody>
          <a:bodyPr/>
          <a:lstStyle/>
          <a:p>
            <a:pPr algn="just"/>
            <a:r>
              <a:rPr lang="en-US" sz="2400" b="1" dirty="0">
                <a:latin typeface="Times New Roman" panose="02020603050405020304" pitchFamily="18" charset="0"/>
                <a:cs typeface="Times New Roman" panose="02020603050405020304" pitchFamily="18" charset="0"/>
              </a:rPr>
              <a:t>Complexity of Existing Platforms: </a:t>
            </a:r>
            <a:r>
              <a:rPr lang="en-US" sz="2400" dirty="0">
                <a:latin typeface="Times New Roman" panose="02020603050405020304" pitchFamily="18" charset="0"/>
                <a:cs typeface="Times New Roman" panose="02020603050405020304" pitchFamily="18" charset="0"/>
              </a:rPr>
              <a:t>Many blogging platforms are too complex for beginners or lack advanced features for experienced users.</a:t>
            </a:r>
          </a:p>
          <a:p>
            <a:pPr algn="just"/>
            <a:r>
              <a:rPr lang="en-US" sz="2400" b="1" dirty="0">
                <a:latin typeface="Times New Roman" panose="02020603050405020304" pitchFamily="18" charset="0"/>
                <a:cs typeface="Times New Roman" panose="02020603050405020304" pitchFamily="18" charset="0"/>
              </a:rPr>
              <a:t>User Experience Issues: </a:t>
            </a:r>
            <a:r>
              <a:rPr lang="en-US" sz="2400" dirty="0">
                <a:latin typeface="Times New Roman" panose="02020603050405020304" pitchFamily="18" charset="0"/>
                <a:cs typeface="Times New Roman" panose="02020603050405020304" pitchFamily="18" charset="0"/>
              </a:rPr>
              <a:t>Non-responsive designs and poor interfaces reduce user engagement.</a:t>
            </a:r>
          </a:p>
          <a:p>
            <a:pPr algn="just"/>
            <a:r>
              <a:rPr lang="en-US" sz="2400" b="1" dirty="0">
                <a:latin typeface="Times New Roman" panose="02020603050405020304" pitchFamily="18" charset="0"/>
                <a:cs typeface="Times New Roman" panose="02020603050405020304" pitchFamily="18" charset="0"/>
              </a:rPr>
              <a:t>Content Management Problems: </a:t>
            </a:r>
            <a:r>
              <a:rPr lang="en-US" sz="2400" dirty="0">
                <a:latin typeface="Times New Roman" panose="02020603050405020304" pitchFamily="18" charset="0"/>
                <a:cs typeface="Times New Roman" panose="02020603050405020304" pitchFamily="18" charset="0"/>
              </a:rPr>
              <a:t>Challenges in organizing and managing blog content effectively.</a:t>
            </a:r>
          </a:p>
          <a:p>
            <a:pPr algn="just"/>
            <a:r>
              <a:rPr lang="en-US" sz="2400" b="1" dirty="0">
                <a:latin typeface="Times New Roman" panose="02020603050405020304" pitchFamily="18" charset="0"/>
                <a:cs typeface="Times New Roman" panose="02020603050405020304" pitchFamily="18" charset="0"/>
              </a:rPr>
              <a:t>Security Concerns: </a:t>
            </a:r>
            <a:r>
              <a:rPr lang="en-US" sz="2400" dirty="0">
                <a:latin typeface="Times New Roman" panose="02020603050405020304" pitchFamily="18" charset="0"/>
                <a:cs typeface="Times New Roman" panose="02020603050405020304" pitchFamily="18" charset="0"/>
              </a:rPr>
              <a:t>Inadequate user authentication and data protection.</a:t>
            </a:r>
          </a:p>
          <a:p>
            <a:pPr algn="just"/>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     Definition:</a:t>
            </a:r>
            <a:r>
              <a:rPr lang="en-US" sz="2400" dirty="0">
                <a:latin typeface="Times New Roman" panose="02020603050405020304" pitchFamily="18" charset="0"/>
                <a:cs typeface="Times New Roman" panose="02020603050405020304" pitchFamily="18" charset="0"/>
              </a:rPr>
              <a:t> Our blogging website mini project addresses these issues by creating a user-friendly, responsive blogging website with efficient content management, robust security, and enhanced community interaction.</a:t>
            </a:r>
          </a:p>
          <a:p>
            <a:pPr algn="just" eaLnBrk="1" hangingPunct="1"/>
            <a:endParaRPr lang="en-US" sz="2400" dirty="0"/>
          </a:p>
        </p:txBody>
      </p:sp>
      <p:sp>
        <p:nvSpPr>
          <p:cNvPr id="4" name="Footer Placeholder 3"/>
          <p:cNvSpPr>
            <a:spLocks noGrp="1"/>
          </p:cNvSpPr>
          <p:nvPr>
            <p:ph type="ftr" sz="quarter" idx="11"/>
          </p:nvPr>
        </p:nvSpPr>
        <p:spPr/>
        <p:txBody>
          <a:bodyPr/>
          <a:lstStyle/>
          <a:p>
            <a:pPr>
              <a:defRPr/>
            </a:pPr>
            <a:r>
              <a:rPr lang="en-US" dirty="0"/>
              <a:t>Dept. of CSE, SJCIT</a:t>
            </a:r>
          </a:p>
        </p:txBody>
      </p:sp>
      <p:sp>
        <p:nvSpPr>
          <p:cNvPr id="5" name="Slide Number Placeholder 4"/>
          <p:cNvSpPr>
            <a:spLocks noGrp="1"/>
          </p:cNvSpPr>
          <p:nvPr>
            <p:ph type="sldNum" sz="quarter" idx="12"/>
          </p:nvPr>
        </p:nvSpPr>
        <p:spPr/>
        <p:txBody>
          <a:bodyPr/>
          <a:lstStyle/>
          <a:p>
            <a:pPr>
              <a:defRPr/>
            </a:pPr>
            <a:fld id="{F7EDBEC5-1BD0-4289-A0D0-85ADAA8AC8DD}" type="slidenum">
              <a:rPr lang="en-US"/>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sz="3200" b="1" dirty="0">
                <a:latin typeface="Times New Roman" pitchFamily="18" charset="0"/>
                <a:cs typeface="Times New Roman" pitchFamily="18" charset="0"/>
              </a:rPr>
              <a:t>SIGNIFICANCE </a:t>
            </a:r>
          </a:p>
        </p:txBody>
      </p:sp>
      <p:sp>
        <p:nvSpPr>
          <p:cNvPr id="8195" name="Content Placeholder 2"/>
          <p:cNvSpPr>
            <a:spLocks noGrp="1"/>
          </p:cNvSpPr>
          <p:nvPr>
            <p:ph idx="1"/>
          </p:nvPr>
        </p:nvSpPr>
        <p:spPr>
          <a:xfrm>
            <a:off x="943428" y="1600200"/>
            <a:ext cx="10348685" cy="4525963"/>
          </a:xfrm>
        </p:spPr>
        <p:txBody>
          <a:bodyPr/>
          <a:lstStyle/>
          <a:p>
            <a:pPr algn="just" eaLnBrk="1" hangingPunct="1"/>
            <a:r>
              <a:rPr lang="en-US" sz="2400" dirty="0">
                <a:latin typeface="Times New Roman" panose="02020603050405020304" pitchFamily="18" charset="0"/>
                <a:cs typeface="Times New Roman" panose="02020603050405020304" pitchFamily="18" charset="0"/>
              </a:rPr>
              <a:t>Enhanced User Accessibility</a:t>
            </a:r>
          </a:p>
          <a:p>
            <a:pPr algn="just" eaLnBrk="1" hangingPunct="1"/>
            <a:r>
              <a:rPr lang="en-US" sz="2400" dirty="0">
                <a:latin typeface="Times New Roman" panose="02020603050405020304" pitchFamily="18" charset="0"/>
                <a:cs typeface="Times New Roman" panose="02020603050405020304" pitchFamily="18" charset="0"/>
              </a:rPr>
              <a:t>Improved User Engagement</a:t>
            </a:r>
          </a:p>
          <a:p>
            <a:pPr algn="just" eaLnBrk="1" hangingPunct="1"/>
            <a:r>
              <a:rPr lang="en-US" sz="2400" dirty="0">
                <a:latin typeface="Times New Roman" panose="02020603050405020304" pitchFamily="18" charset="0"/>
                <a:cs typeface="Times New Roman" panose="02020603050405020304" pitchFamily="18" charset="0"/>
              </a:rPr>
              <a:t>Efficient Content Management</a:t>
            </a:r>
          </a:p>
          <a:p>
            <a:pPr algn="just" eaLnBrk="1" hangingPunct="1"/>
            <a:r>
              <a:rPr lang="en-US" sz="2400" dirty="0">
                <a:latin typeface="Times New Roman" panose="02020603050405020304" pitchFamily="18" charset="0"/>
                <a:cs typeface="Times New Roman" panose="02020603050405020304" pitchFamily="18" charset="0"/>
              </a:rPr>
              <a:t>Strengthened Security</a:t>
            </a:r>
          </a:p>
        </p:txBody>
      </p:sp>
      <p:sp>
        <p:nvSpPr>
          <p:cNvPr id="4" name="Footer Placeholder 3"/>
          <p:cNvSpPr>
            <a:spLocks noGrp="1"/>
          </p:cNvSpPr>
          <p:nvPr>
            <p:ph type="ftr" sz="quarter" idx="11"/>
          </p:nvPr>
        </p:nvSpPr>
        <p:spPr/>
        <p:txBody>
          <a:bodyPr/>
          <a:lstStyle/>
          <a:p>
            <a:pPr>
              <a:defRPr/>
            </a:pPr>
            <a:r>
              <a:rPr lang="en-US" dirty="0"/>
              <a:t>Dept. of CSE, SJCIT</a:t>
            </a:r>
          </a:p>
        </p:txBody>
      </p:sp>
      <p:sp>
        <p:nvSpPr>
          <p:cNvPr id="5" name="Slide Number Placeholder 4"/>
          <p:cNvSpPr>
            <a:spLocks noGrp="1"/>
          </p:cNvSpPr>
          <p:nvPr>
            <p:ph type="sldNum" sz="quarter" idx="12"/>
          </p:nvPr>
        </p:nvSpPr>
        <p:spPr/>
        <p:txBody>
          <a:bodyPr/>
          <a:lstStyle/>
          <a:p>
            <a:pPr>
              <a:defRPr/>
            </a:pPr>
            <a:fld id="{18AE424B-9980-4653-B1C1-7EB6AB2FB086}" type="slidenum">
              <a:rPr lang="en-US"/>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z="3200" b="1" dirty="0">
                <a:latin typeface="Times New Roman" pitchFamily="18" charset="0"/>
                <a:cs typeface="Times New Roman" pitchFamily="18" charset="0"/>
              </a:rPr>
              <a:t>OBJECTIVES</a:t>
            </a:r>
          </a:p>
        </p:txBody>
      </p:sp>
      <p:sp>
        <p:nvSpPr>
          <p:cNvPr id="9219" name="Content Placeholder 2"/>
          <p:cNvSpPr>
            <a:spLocks noGrp="1"/>
          </p:cNvSpPr>
          <p:nvPr>
            <p:ph idx="1"/>
          </p:nvPr>
        </p:nvSpPr>
        <p:spPr/>
        <p:txBody>
          <a:bodyPr/>
          <a:lstStyle/>
          <a:p>
            <a:pPr lvl="1" algn="just" eaLnBrk="1" hangingPunct="1">
              <a:buFont typeface="Arial" pitchFamily="34" charset="0"/>
              <a:buChar char="•"/>
            </a:pPr>
            <a:r>
              <a:rPr lang="en-US" sz="2400" dirty="0">
                <a:latin typeface="Times New Roman" panose="02020603050405020304" pitchFamily="18" charset="0"/>
                <a:cs typeface="Times New Roman" panose="02020603050405020304" pitchFamily="18" charset="0"/>
              </a:rPr>
              <a:t>Implement a secure user login and logout system.</a:t>
            </a:r>
          </a:p>
          <a:p>
            <a:pPr lvl="1" algn="just" eaLnBrk="1" hangingPunct="1">
              <a:buFont typeface="Arial" pitchFamily="34" charset="0"/>
              <a:buChar char="•"/>
            </a:pPr>
            <a:r>
              <a:rPr lang="en-US" sz="2400" dirty="0">
                <a:latin typeface="Times New Roman" panose="02020603050405020304" pitchFamily="18" charset="0"/>
                <a:cs typeface="Times New Roman" panose="02020603050405020304" pitchFamily="18" charset="0"/>
              </a:rPr>
              <a:t>Develop a user-friendly interface for creating blog posts.</a:t>
            </a:r>
          </a:p>
          <a:p>
            <a:pPr lvl="1" algn="just" eaLnBrk="1" hangingPunct="1">
              <a:buFont typeface="Arial" pitchFamily="34" charset="0"/>
              <a:buChar char="•"/>
            </a:pPr>
            <a:r>
              <a:rPr lang="en-US" sz="2400" dirty="0">
                <a:latin typeface="Times New Roman" panose="02020603050405020304" pitchFamily="18" charset="0"/>
                <a:cs typeface="Times New Roman" panose="02020603050405020304" pitchFamily="18" charset="0"/>
              </a:rPr>
              <a:t>Enable users to write new blogs in respective categories.</a:t>
            </a:r>
          </a:p>
          <a:p>
            <a:pPr lvl="1" algn="just" eaLnBrk="1" hangingPunct="1">
              <a:buFont typeface="Arial" pitchFamily="34" charset="0"/>
              <a:buChar char="•"/>
            </a:pPr>
            <a:r>
              <a:rPr lang="en-US" sz="2400" dirty="0">
                <a:latin typeface="Times New Roman" panose="02020603050405020304" pitchFamily="18" charset="0"/>
                <a:cs typeface="Times New Roman" panose="02020603050405020304" pitchFamily="18" charset="0"/>
              </a:rPr>
              <a:t>Ensure the website is responsive and accessible on various devices.</a:t>
            </a:r>
          </a:p>
          <a:p>
            <a:pPr marL="457200" lvl="1" indent="0" algn="just" eaLnBrk="1" hangingPunct="1">
              <a:buNone/>
            </a:pPr>
            <a:endParaRPr lang="en-US" sz="2400" dirty="0">
              <a:latin typeface="Times New Roman" panose="02020603050405020304" pitchFamily="18" charset="0"/>
              <a:cs typeface="Times New Roman" panose="02020603050405020304" pitchFamily="18" charset="0"/>
            </a:endParaRPr>
          </a:p>
          <a:p>
            <a:pPr marL="0" indent="0" algn="just" eaLnBrk="1" hangingPunct="1">
              <a:buNone/>
            </a:pPr>
            <a:endParaRPr lang="en-US" sz="2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dirty="0"/>
              <a:t>Dept. of CSE, SJCIT</a:t>
            </a:r>
          </a:p>
        </p:txBody>
      </p:sp>
      <p:sp>
        <p:nvSpPr>
          <p:cNvPr id="5" name="Slide Number Placeholder 4"/>
          <p:cNvSpPr>
            <a:spLocks noGrp="1"/>
          </p:cNvSpPr>
          <p:nvPr>
            <p:ph type="sldNum" sz="quarter" idx="12"/>
          </p:nvPr>
        </p:nvSpPr>
        <p:spPr/>
        <p:txBody>
          <a:bodyPr/>
          <a:lstStyle/>
          <a:p>
            <a:pPr>
              <a:defRPr/>
            </a:pPr>
            <a:fld id="{B21ABA94-4E5E-44A2-AB02-054134BB480C}" type="slidenum">
              <a:rPr lang="en-US"/>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181141-9741-4CCB-D3ED-0495E8E715BC}"/>
              </a:ext>
            </a:extLst>
          </p:cNvPr>
          <p:cNvSpPr>
            <a:spLocks noGrp="1"/>
          </p:cNvSpPr>
          <p:nvPr>
            <p:ph type="title"/>
          </p:nvPr>
        </p:nvSpPr>
        <p:spPr/>
        <p:txBody>
          <a:bodyPr/>
          <a:lstStyle/>
          <a:p>
            <a:r>
              <a:rPr lang="en-US" sz="3200" b="1" dirty="0">
                <a:latin typeface="Times New Roman" pitchFamily="18" charset="0"/>
                <a:cs typeface="Times New Roman" pitchFamily="18" charset="0"/>
              </a:rPr>
              <a:t>METHODOLOGY</a:t>
            </a:r>
            <a:endParaRPr lang="en-IN" sz="3200" dirty="0"/>
          </a:p>
        </p:txBody>
      </p:sp>
      <p:sp>
        <p:nvSpPr>
          <p:cNvPr id="3" name="Content Placeholder 2">
            <a:extLst>
              <a:ext uri="{FF2B5EF4-FFF2-40B4-BE49-F238E27FC236}">
                <a16:creationId xmlns:a16="http://schemas.microsoft.com/office/drawing/2014/main" xmlns="" id="{406C67E0-A009-FC2C-FBC8-31D724334D40}"/>
              </a:ext>
            </a:extLst>
          </p:cNvPr>
          <p:cNvSpPr>
            <a:spLocks noGrp="1"/>
          </p:cNvSpPr>
          <p:nvPr>
            <p:ph idx="1"/>
          </p:nvPr>
        </p:nvSpPr>
        <p:spPr>
          <a:xfrm>
            <a:off x="609600" y="1407886"/>
            <a:ext cx="10972800" cy="4718277"/>
          </a:xfrm>
        </p:spPr>
        <p:txBody>
          <a:bodyPr/>
          <a:lstStyle/>
          <a:p>
            <a:pPr marL="457200" indent="-457200" algn="just">
              <a:buNone/>
            </a:pPr>
            <a:r>
              <a:rPr lang="en-US" sz="2800" b="1" dirty="0">
                <a:latin typeface="Times New Roman" panose="02020603050405020304" pitchFamily="18" charset="0"/>
                <a:cs typeface="Times New Roman" panose="02020603050405020304" pitchFamily="18" charset="0"/>
              </a:rPr>
              <a:t>	1.Planning and Requirements Gathering</a:t>
            </a:r>
          </a:p>
          <a:p>
            <a:pPr lvl="1"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Define mini project objectives: User authentication, blog creation, and user interaction.</a:t>
            </a:r>
          </a:p>
          <a:p>
            <a:pPr lvl="1"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Specify key features: User registration, login, blog post creation, and responsive design and publish.</a:t>
            </a:r>
          </a:p>
          <a:p>
            <a:pPr lvl="1"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Choose tools: HTML5, CSS, JavaScript.</a:t>
            </a:r>
          </a:p>
          <a:p>
            <a:pPr marL="457200" lvl="1" indent="0" algn="just">
              <a:buNone/>
            </a:pPr>
            <a:r>
              <a:rPr lang="en-US" sz="2800" b="1" dirty="0">
                <a:latin typeface="Times New Roman" panose="02020603050405020304" pitchFamily="18" charset="0"/>
                <a:cs typeface="Times New Roman" panose="02020603050405020304" pitchFamily="18" charset="0"/>
              </a:rPr>
              <a:t>2. Setting Up Development Environment</a:t>
            </a:r>
          </a:p>
          <a:p>
            <a:pPr lvl="1"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Install required software: Visual Studio Code, </a:t>
            </a:r>
            <a:r>
              <a:rPr lang="en-US" sz="2400" dirty="0" err="1">
                <a:latin typeface="Times New Roman" panose="02020603050405020304" pitchFamily="18" charset="0"/>
                <a:cs typeface="Times New Roman" panose="02020603050405020304" pitchFamily="18" charset="0"/>
              </a:rPr>
              <a:t>Xampp</a:t>
            </a:r>
            <a:r>
              <a:rPr lang="en-US" sz="2400" dirty="0">
                <a:latin typeface="Times New Roman" panose="02020603050405020304" pitchFamily="18" charset="0"/>
                <a:cs typeface="Times New Roman" panose="02020603050405020304" pitchFamily="18" charset="0"/>
              </a:rPr>
              <a:t>.</a:t>
            </a:r>
          </a:p>
          <a:p>
            <a:pPr lvl="1"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Organize project structure: Folders for HTML, CSS, JavaScript, and assets.</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xmlns="" id="{39E46C2D-9CF0-7B22-ABA7-DC44B4EE9FD5}"/>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xmlns="" id="{45DC8A02-F4FF-FF06-2B2E-5B0AD5C7FC2A}"/>
              </a:ext>
            </a:extLst>
          </p:cNvPr>
          <p:cNvSpPr>
            <a:spLocks noGrp="1"/>
          </p:cNvSpPr>
          <p:nvPr>
            <p:ph type="sldNum" sz="quarter" idx="12"/>
          </p:nvPr>
        </p:nvSpPr>
        <p:spPr/>
        <p:txBody>
          <a:bodyPr/>
          <a:lstStyle/>
          <a:p>
            <a:pPr>
              <a:defRPr/>
            </a:pPr>
            <a:fld id="{81778C72-80D4-44C2-A5C0-B833B330A205}" type="slidenum">
              <a:rPr lang="en-US" smtClean="0"/>
              <a:pPr>
                <a:defRPr/>
              </a:pPr>
              <a:t>9</a:t>
            </a:fld>
            <a:endParaRPr lang="en-US"/>
          </a:p>
        </p:txBody>
      </p:sp>
    </p:spTree>
    <p:extLst>
      <p:ext uri="{BB962C8B-B14F-4D97-AF65-F5344CB8AC3E}">
        <p14:creationId xmlns:p14="http://schemas.microsoft.com/office/powerpoint/2010/main" xmlns="" val="1029801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D65E70-52FB-51B3-ED9C-71BF513F2B5F}"/>
              </a:ext>
            </a:extLst>
          </p:cNvPr>
          <p:cNvSpPr>
            <a:spLocks noGrp="1"/>
          </p:cNvSpPr>
          <p:nvPr>
            <p:ph type="title"/>
          </p:nvPr>
        </p:nvSpPr>
        <p:spPr/>
        <p:txBody>
          <a:bodyPr/>
          <a:lstStyle/>
          <a:p>
            <a:r>
              <a:rPr lang="en-US" sz="3200" b="1" dirty="0">
                <a:latin typeface="Times New Roman" pitchFamily="18" charset="0"/>
                <a:cs typeface="Times New Roman" pitchFamily="18" charset="0"/>
              </a:rPr>
              <a:t>METHODOLOGY</a:t>
            </a:r>
            <a:endParaRPr lang="en-IN" sz="3200" dirty="0"/>
          </a:p>
        </p:txBody>
      </p:sp>
      <p:sp>
        <p:nvSpPr>
          <p:cNvPr id="3" name="Content Placeholder 2">
            <a:extLst>
              <a:ext uri="{FF2B5EF4-FFF2-40B4-BE49-F238E27FC236}">
                <a16:creationId xmlns:a16="http://schemas.microsoft.com/office/drawing/2014/main" xmlns="" id="{1A337566-4F63-854D-BB9F-0AA4013429D9}"/>
              </a:ext>
            </a:extLst>
          </p:cNvPr>
          <p:cNvSpPr>
            <a:spLocks noGrp="1"/>
          </p:cNvSpPr>
          <p:nvPr>
            <p:ph idx="1"/>
          </p:nvPr>
        </p:nvSpPr>
        <p:spPr>
          <a:xfrm>
            <a:off x="609600" y="1600200"/>
            <a:ext cx="11328400" cy="4841240"/>
          </a:xfrm>
        </p:spPr>
        <p:txBody>
          <a:bodyPr/>
          <a:lstStyle/>
          <a:p>
            <a:pPr marL="0" indent="0">
              <a:buNone/>
            </a:pPr>
            <a:r>
              <a:rPr lang="en-US" sz="2800" b="1" dirty="0">
                <a:latin typeface="Times New Roman" panose="02020603050405020304" pitchFamily="18" charset="0"/>
                <a:cs typeface="Times New Roman" panose="02020603050405020304" pitchFamily="18" charset="0"/>
              </a:rPr>
              <a:t>3. Designing User Interface</a:t>
            </a:r>
          </a:p>
          <a:p>
            <a:pPr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Create wireframes and mockups: Visualize website layout.</a:t>
            </a:r>
          </a:p>
          <a:p>
            <a:pPr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Develop with HTML: Use semantic elements for structure.</a:t>
            </a:r>
          </a:p>
          <a:p>
            <a:pPr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Style with CSS3: Implement responsive design using </a:t>
            </a:r>
            <a:r>
              <a:rPr lang="en-US" sz="2400" dirty="0" err="1">
                <a:latin typeface="Times New Roman" panose="02020603050405020304" pitchFamily="18" charset="0"/>
                <a:cs typeface="Times New Roman" panose="02020603050405020304" pitchFamily="18" charset="0"/>
              </a:rPr>
              <a:t>Flexbox</a:t>
            </a:r>
            <a:r>
              <a:rPr lang="en-US" sz="24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4. Implementing Functionality</a:t>
            </a:r>
          </a:p>
          <a:p>
            <a:pPr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authentication: Build secure login forms.</a:t>
            </a:r>
          </a:p>
          <a:p>
            <a:pPr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Blog post management: Develop a rich text editor for content creation.</a:t>
            </a:r>
            <a:endParaRPr lang="en-US"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5. Deployment and Maintenance</a:t>
            </a:r>
          </a:p>
          <a:p>
            <a:pPr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Ensure compatibility and responsiveness.</a:t>
            </a:r>
          </a:p>
          <a:p>
            <a:pPr>
              <a:buNone/>
            </a:pPr>
            <a:endParaRPr lang="en-IN" sz="2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xmlns="" id="{D585E8DD-A492-E518-37CA-0A54871AEA91}"/>
              </a:ext>
            </a:extLst>
          </p:cNvPr>
          <p:cNvSpPr>
            <a:spLocks noGrp="1"/>
          </p:cNvSpPr>
          <p:nvPr>
            <p:ph type="ftr" sz="quarter" idx="11"/>
          </p:nvPr>
        </p:nvSpPr>
        <p:spPr/>
        <p:txBody>
          <a:bodyPr/>
          <a:lstStyle/>
          <a:p>
            <a:pPr>
              <a:defRPr/>
            </a:pPr>
            <a:r>
              <a:rPr lang="en-US" dirty="0"/>
              <a:t>Dept. of CSE, SJCIT</a:t>
            </a:r>
          </a:p>
        </p:txBody>
      </p:sp>
      <p:sp>
        <p:nvSpPr>
          <p:cNvPr id="5" name="Slide Number Placeholder 4">
            <a:extLst>
              <a:ext uri="{FF2B5EF4-FFF2-40B4-BE49-F238E27FC236}">
                <a16:creationId xmlns:a16="http://schemas.microsoft.com/office/drawing/2014/main" xmlns="" id="{F38A9EE8-EE55-1120-D013-6F54BB8CC444}"/>
              </a:ext>
            </a:extLst>
          </p:cNvPr>
          <p:cNvSpPr>
            <a:spLocks noGrp="1"/>
          </p:cNvSpPr>
          <p:nvPr>
            <p:ph type="sldNum" sz="quarter" idx="12"/>
          </p:nvPr>
        </p:nvSpPr>
        <p:spPr/>
        <p:txBody>
          <a:bodyPr/>
          <a:lstStyle/>
          <a:p>
            <a:pPr>
              <a:defRPr/>
            </a:pPr>
            <a:fld id="{81778C72-80D4-44C2-A5C0-B833B330A205}" type="slidenum">
              <a:rPr lang="en-US" smtClean="0"/>
              <a:pPr>
                <a:defRPr/>
              </a:pPr>
              <a:t>10</a:t>
            </a:fld>
            <a:endParaRPr lang="en-US"/>
          </a:p>
        </p:txBody>
      </p:sp>
    </p:spTree>
    <p:extLst>
      <p:ext uri="{BB962C8B-B14F-4D97-AF65-F5344CB8AC3E}">
        <p14:creationId xmlns:p14="http://schemas.microsoft.com/office/powerpoint/2010/main" xmlns="" val="550803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z="3200" b="1" dirty="0">
                <a:latin typeface="Times New Roman" pitchFamily="18" charset="0"/>
                <a:cs typeface="Times New Roman" pitchFamily="18" charset="0"/>
              </a:rPr>
              <a:t>PLAN OF EXECUTION</a:t>
            </a:r>
          </a:p>
        </p:txBody>
      </p:sp>
      <p:sp>
        <p:nvSpPr>
          <p:cNvPr id="10243" name="Content Placeholder 2"/>
          <p:cNvSpPr>
            <a:spLocks noGrp="1"/>
          </p:cNvSpPr>
          <p:nvPr>
            <p:ph idx="1"/>
          </p:nvPr>
        </p:nvSpPr>
        <p:spPr>
          <a:xfrm>
            <a:off x="609600" y="1417638"/>
            <a:ext cx="10972800" cy="4938712"/>
          </a:xfrm>
        </p:spPr>
        <p:txBody>
          <a:bodyPr/>
          <a:lstStyle/>
          <a:p>
            <a:pPr>
              <a:buFont typeface="+mj-lt"/>
              <a:buAutoNum type="arabicPeriod"/>
            </a:pPr>
            <a:r>
              <a:rPr lang="en-US" sz="2400" b="1" dirty="0">
                <a:latin typeface="Times New Roman" panose="02020603050405020304" pitchFamily="18" charset="0"/>
                <a:cs typeface="Times New Roman" panose="02020603050405020304" pitchFamily="18" charset="0"/>
              </a:rPr>
              <a:t>Project Setup and Planning</a:t>
            </a:r>
            <a:endParaRPr lang="en-US" sz="2400" dirty="0">
              <a:latin typeface="Times New Roman" panose="02020603050405020304" pitchFamily="18" charset="0"/>
              <a:cs typeface="Times New Roman" panose="02020603050405020304" pitchFamily="18" charset="0"/>
            </a:endParaRPr>
          </a:p>
          <a:p>
            <a:pPr marL="742950" lvl="1" indent="-285750">
              <a:buFont typeface="Arial" pitchFamily="34" charset="0"/>
              <a:buChar char="•"/>
            </a:pPr>
            <a:r>
              <a:rPr lang="en-US" sz="2400" dirty="0">
                <a:latin typeface="Times New Roman" panose="02020603050405020304" pitchFamily="18" charset="0"/>
                <a:cs typeface="Times New Roman" panose="02020603050405020304" pitchFamily="18" charset="0"/>
              </a:rPr>
              <a:t>Define project objectives and finalize feature specifications.</a:t>
            </a:r>
          </a:p>
          <a:p>
            <a:pPr marL="742950" lvl="1" indent="-285750">
              <a:buFont typeface="Arial" pitchFamily="34" charset="0"/>
              <a:buChar char="•"/>
            </a:pPr>
            <a:r>
              <a:rPr lang="en-US" sz="2400" dirty="0">
                <a:latin typeface="Times New Roman" panose="02020603050405020304" pitchFamily="18" charset="0"/>
                <a:cs typeface="Times New Roman" panose="02020603050405020304" pitchFamily="18" charset="0"/>
              </a:rPr>
              <a:t>Select and set up development tools: Visual Studio Code and </a:t>
            </a:r>
            <a:r>
              <a:rPr lang="en-US" sz="2400" dirty="0" err="1">
                <a:latin typeface="Times New Roman" panose="02020603050405020304" pitchFamily="18" charset="0"/>
                <a:cs typeface="Times New Roman" panose="02020603050405020304" pitchFamily="18" charset="0"/>
              </a:rPr>
              <a:t>Xampp</a:t>
            </a:r>
            <a:r>
              <a:rPr lang="en-US" sz="2400" dirty="0">
                <a:latin typeface="Times New Roman" panose="02020603050405020304" pitchFamily="18" charset="0"/>
                <a:cs typeface="Times New Roman" panose="02020603050405020304" pitchFamily="18" charset="0"/>
              </a:rPr>
              <a:t> server.</a:t>
            </a:r>
          </a:p>
          <a:p>
            <a:pPr>
              <a:buFont typeface="+mj-lt"/>
              <a:buAutoNum type="arabicPeriod"/>
            </a:pPr>
            <a:r>
              <a:rPr lang="en-US" sz="2400" b="1" dirty="0">
                <a:latin typeface="Times New Roman" panose="02020603050405020304" pitchFamily="18" charset="0"/>
                <a:cs typeface="Times New Roman" panose="02020603050405020304" pitchFamily="18" charset="0"/>
              </a:rPr>
              <a:t>User Interface Design</a:t>
            </a:r>
            <a:endParaRPr lang="en-US" sz="2400" dirty="0">
              <a:latin typeface="Times New Roman" panose="02020603050405020304" pitchFamily="18" charset="0"/>
              <a:cs typeface="Times New Roman" panose="02020603050405020304" pitchFamily="18" charset="0"/>
            </a:endParaRPr>
          </a:p>
          <a:p>
            <a:pPr lvl="1">
              <a:buFont typeface="Arial" pitchFamily="34" charset="0"/>
              <a:buChar char="•"/>
            </a:pPr>
            <a:r>
              <a:rPr lang="en-US" sz="2400" dirty="0">
                <a:latin typeface="Times New Roman" panose="02020603050405020304" pitchFamily="18" charset="0"/>
                <a:cs typeface="Times New Roman" panose="02020603050405020304" pitchFamily="18" charset="0"/>
              </a:rPr>
              <a:t>Develop the basic HTML structure using semantic elements.</a:t>
            </a:r>
          </a:p>
          <a:p>
            <a:pPr lvl="1">
              <a:buFont typeface="Arial" pitchFamily="34" charset="0"/>
              <a:buChar char="•"/>
            </a:pPr>
            <a:r>
              <a:rPr lang="en-US" sz="2400" dirty="0">
                <a:latin typeface="Times New Roman" panose="02020603050405020304" pitchFamily="18" charset="0"/>
                <a:cs typeface="Times New Roman" panose="02020603050405020304" pitchFamily="18" charset="0"/>
              </a:rPr>
              <a:t>Begin CSS styling for responsive design.</a:t>
            </a:r>
          </a:p>
          <a:p>
            <a:pPr lvl="1">
              <a:buFont typeface="Arial" pitchFamily="34" charset="0"/>
              <a:buChar char="•"/>
            </a:pPr>
            <a:r>
              <a:rPr lang="en-US" sz="2400" dirty="0">
                <a:latin typeface="Times New Roman" panose="02020603050405020304" pitchFamily="18" charset="0"/>
                <a:cs typeface="Times New Roman" panose="02020603050405020304" pitchFamily="18" charset="0"/>
              </a:rPr>
              <a:t>Create database for storing the data of blogs.</a:t>
            </a:r>
          </a:p>
          <a:p>
            <a:pPr>
              <a:buFont typeface="+mj-lt"/>
              <a:buAutoNum type="arabicPeriod"/>
            </a:pPr>
            <a:r>
              <a:rPr lang="en-US" sz="2400" b="1" dirty="0">
                <a:latin typeface="Times New Roman" panose="02020603050405020304" pitchFamily="18" charset="0"/>
                <a:cs typeface="Times New Roman" panose="02020603050405020304" pitchFamily="18" charset="0"/>
              </a:rPr>
              <a:t>User Authentication and Database Setup</a:t>
            </a:r>
            <a:endParaRPr lang="en-US" sz="2400" dirty="0">
              <a:latin typeface="Times New Roman" panose="02020603050405020304" pitchFamily="18" charset="0"/>
              <a:cs typeface="Times New Roman" panose="02020603050405020304" pitchFamily="18" charset="0"/>
            </a:endParaRPr>
          </a:p>
          <a:p>
            <a:pPr marL="742950" lvl="1" indent="-285750">
              <a:buFont typeface="Arial" pitchFamily="34" charset="0"/>
              <a:buChar char="•"/>
            </a:pPr>
            <a:r>
              <a:rPr lang="en-US" sz="2400" dirty="0">
                <a:latin typeface="Times New Roman" panose="02020603050405020304" pitchFamily="18" charset="0"/>
                <a:cs typeface="Times New Roman" panose="02020603050405020304" pitchFamily="18" charset="0"/>
              </a:rPr>
              <a:t>Implement user registration and login forms with HTML and JavaScript.</a:t>
            </a:r>
          </a:p>
          <a:p>
            <a:pPr marL="742950" lvl="1" indent="-285750">
              <a:buFont typeface="Arial" pitchFamily="34" charset="0"/>
              <a:buChar char="•"/>
            </a:pPr>
            <a:r>
              <a:rPr lang="en-US" sz="2400" dirty="0">
                <a:latin typeface="Times New Roman" panose="02020603050405020304" pitchFamily="18" charset="0"/>
                <a:cs typeface="Times New Roman" panose="02020603050405020304" pitchFamily="18" charset="0"/>
              </a:rPr>
              <a:t>Initialize database schema (if applicable) and connect with backend services.</a:t>
            </a:r>
          </a:p>
          <a:p>
            <a:pPr eaLnBrk="1" hangingPunct="1"/>
            <a:endParaRPr lang="en-US" sz="2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5C960AC0-5FA2-4768-B0D1-ED468A3A937D}" type="slidenum">
              <a:rPr lang="en-US"/>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BE90F5-A194-7749-02AE-B02ABC0D578B}"/>
              </a:ext>
            </a:extLst>
          </p:cNvPr>
          <p:cNvSpPr>
            <a:spLocks noGrp="1"/>
          </p:cNvSpPr>
          <p:nvPr>
            <p:ph type="title"/>
          </p:nvPr>
        </p:nvSpPr>
        <p:spPr/>
        <p:txBody>
          <a:bodyPr/>
          <a:lstStyle/>
          <a:p>
            <a:r>
              <a:rPr lang="en-US" sz="3200" b="1" dirty="0">
                <a:latin typeface="Times New Roman" pitchFamily="18" charset="0"/>
                <a:cs typeface="Times New Roman" pitchFamily="18" charset="0"/>
              </a:rPr>
              <a:t>PLAN OF EXECUTION</a:t>
            </a:r>
            <a:endParaRPr lang="en-IN" sz="3200" dirty="0"/>
          </a:p>
        </p:txBody>
      </p:sp>
      <p:sp>
        <p:nvSpPr>
          <p:cNvPr id="3" name="Content Placeholder 2">
            <a:extLst>
              <a:ext uri="{FF2B5EF4-FFF2-40B4-BE49-F238E27FC236}">
                <a16:creationId xmlns:a16="http://schemas.microsoft.com/office/drawing/2014/main" xmlns="" id="{3819FB33-F62F-C7DC-4733-3F71B501E7EF}"/>
              </a:ext>
            </a:extLst>
          </p:cNvPr>
          <p:cNvSpPr>
            <a:spLocks noGrp="1"/>
          </p:cNvSpPr>
          <p:nvPr>
            <p:ph idx="1"/>
          </p:nvPr>
        </p:nvSpPr>
        <p:spPr/>
        <p:txBody>
          <a:bodyPr/>
          <a:lstStyle/>
          <a:p>
            <a:pPr marL="0" indent="0" algn="just">
              <a:buNone/>
            </a:pPr>
            <a:r>
              <a:rPr lang="en-US" sz="2400" b="1" dirty="0">
                <a:latin typeface="Times New Roman" panose="02020603050405020304" pitchFamily="18" charset="0"/>
                <a:cs typeface="Times New Roman" panose="02020603050405020304" pitchFamily="18" charset="0"/>
              </a:rPr>
              <a:t>4. Content Creation and Management</a:t>
            </a:r>
            <a:endParaRPr lang="en-US" sz="2400" dirty="0">
              <a:latin typeface="Times New Roman" panose="02020603050405020304" pitchFamily="18" charset="0"/>
              <a:cs typeface="Times New Roman" panose="02020603050405020304" pitchFamily="18" charset="0"/>
            </a:endParaRPr>
          </a:p>
          <a:p>
            <a:pPr marL="742950" lvl="1"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Develop a blog post editor with HTML forms and JavaScript for content handling.</a:t>
            </a:r>
          </a:p>
          <a:p>
            <a:pPr marL="0" indent="0" algn="just">
              <a:buNone/>
            </a:pPr>
            <a:r>
              <a:rPr lang="en-US" sz="2400" b="1" dirty="0">
                <a:latin typeface="Times New Roman" panose="02020603050405020304" pitchFamily="18" charset="0"/>
                <a:cs typeface="Times New Roman" panose="02020603050405020304" pitchFamily="18" charset="0"/>
              </a:rPr>
              <a:t>5. User Interaction Features</a:t>
            </a:r>
            <a:endParaRPr lang="en-US" sz="2400" dirty="0">
              <a:latin typeface="Times New Roman" panose="02020603050405020304" pitchFamily="18" charset="0"/>
              <a:cs typeface="Times New Roman" panose="02020603050405020304" pitchFamily="18" charset="0"/>
            </a:endParaRPr>
          </a:p>
          <a:p>
            <a:pPr marL="742950" lvl="1" indent="-285750" algn="just">
              <a:buFont typeface="Arial" pitchFamily="34" charset="0"/>
              <a:buChar char="•"/>
            </a:pPr>
            <a:r>
              <a:rPr lang="en-US" sz="2400" dirty="0">
                <a:latin typeface="Times New Roman" panose="02020603050405020304" pitchFamily="18" charset="0"/>
                <a:cs typeface="Times New Roman" panose="02020603050405020304" pitchFamily="18" charset="0"/>
              </a:rPr>
              <a:t>Enhance user experience with responsive design adjustments and interactive elements.</a:t>
            </a:r>
          </a:p>
          <a:p>
            <a:pPr marL="0" indent="0" algn="just">
              <a:buNone/>
            </a:pPr>
            <a:r>
              <a:rPr lang="en-US" sz="2400" b="1" dirty="0">
                <a:latin typeface="Times New Roman" panose="02020603050405020304" pitchFamily="18" charset="0"/>
                <a:cs typeface="Times New Roman" panose="02020603050405020304" pitchFamily="18" charset="0"/>
              </a:rPr>
              <a:t>6. Testing and Debugging</a:t>
            </a:r>
            <a:endParaRPr lang="en-US" sz="2400" dirty="0">
              <a:latin typeface="Times New Roman" panose="02020603050405020304" pitchFamily="18" charset="0"/>
              <a:cs typeface="Times New Roman" panose="02020603050405020304" pitchFamily="18" charset="0"/>
            </a:endParaRPr>
          </a:p>
          <a:p>
            <a:pPr lvl="1" algn="just">
              <a:buFont typeface="Arial" pitchFamily="34" charset="0"/>
              <a:buChar char="•"/>
            </a:pPr>
            <a:r>
              <a:rPr lang="en-US" sz="2400" dirty="0">
                <a:latin typeface="Times New Roman" panose="02020603050405020304" pitchFamily="18" charset="0"/>
                <a:cs typeface="Times New Roman" panose="02020603050405020304" pitchFamily="18" charset="0"/>
              </a:rPr>
              <a:t>Conduct cross-browser testing on Chrome, Firefox, Safari, and Edge.</a:t>
            </a:r>
          </a:p>
          <a:p>
            <a:pPr lvl="1" algn="just">
              <a:buFont typeface="Arial" pitchFamily="34" charset="0"/>
              <a:buChar char="•"/>
            </a:pPr>
            <a:r>
              <a:rPr lang="en-US" sz="2400" dirty="0">
                <a:latin typeface="Times New Roman" panose="02020603050405020304" pitchFamily="18" charset="0"/>
                <a:cs typeface="Times New Roman" panose="02020603050405020304" pitchFamily="18" charset="0"/>
              </a:rPr>
              <a:t>Perform responsive testing on various devices (desktop, tablet, </a:t>
            </a:r>
            <a:r>
              <a:rPr lang="en-US" sz="2400" dirty="0" err="1">
                <a:latin typeface="Times New Roman" panose="02020603050405020304" pitchFamily="18" charset="0"/>
                <a:cs typeface="Times New Roman" panose="02020603050405020304" pitchFamily="18" charset="0"/>
              </a:rPr>
              <a:t>smartphone</a:t>
            </a:r>
            <a:r>
              <a:rPr lang="en-US" sz="2400" dirty="0">
                <a:latin typeface="Times New Roman" panose="02020603050405020304" pitchFamily="18" charset="0"/>
                <a:cs typeface="Times New Roman" panose="02020603050405020304" pitchFamily="18" charset="0"/>
              </a:rPr>
              <a:t>).</a:t>
            </a:r>
          </a:p>
          <a:p>
            <a:pPr algn="just"/>
            <a:endParaRPr lang="en-IN" dirty="0"/>
          </a:p>
        </p:txBody>
      </p:sp>
      <p:sp>
        <p:nvSpPr>
          <p:cNvPr id="4" name="Footer Placeholder 3">
            <a:extLst>
              <a:ext uri="{FF2B5EF4-FFF2-40B4-BE49-F238E27FC236}">
                <a16:creationId xmlns:a16="http://schemas.microsoft.com/office/drawing/2014/main" xmlns="" id="{EA04957C-1849-44F9-FDA3-4AF6CE966CB7}"/>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xmlns="" id="{C018A8A1-656E-3B6B-9243-066F8BC8015B}"/>
              </a:ext>
            </a:extLst>
          </p:cNvPr>
          <p:cNvSpPr>
            <a:spLocks noGrp="1"/>
          </p:cNvSpPr>
          <p:nvPr>
            <p:ph type="sldNum" sz="quarter" idx="12"/>
          </p:nvPr>
        </p:nvSpPr>
        <p:spPr/>
        <p:txBody>
          <a:bodyPr/>
          <a:lstStyle/>
          <a:p>
            <a:pPr>
              <a:defRPr/>
            </a:pPr>
            <a:fld id="{81778C72-80D4-44C2-A5C0-B833B330A205}" type="slidenum">
              <a:rPr lang="en-US" smtClean="0"/>
              <a:pPr>
                <a:defRPr/>
              </a:pPr>
              <a:t>12</a:t>
            </a:fld>
            <a:endParaRPr lang="en-US"/>
          </a:p>
        </p:txBody>
      </p:sp>
    </p:spTree>
    <p:extLst>
      <p:ext uri="{BB962C8B-B14F-4D97-AF65-F5344CB8AC3E}">
        <p14:creationId xmlns:p14="http://schemas.microsoft.com/office/powerpoint/2010/main" xmlns="" val="892297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z="3200" b="1" dirty="0">
                <a:latin typeface="Times New Roman" pitchFamily="18" charset="0"/>
                <a:cs typeface="Times New Roman" pitchFamily="18" charset="0"/>
              </a:rPr>
              <a:t>SYSTEM REQUIREMENTS AND SPECIFICATIONS</a:t>
            </a:r>
          </a:p>
        </p:txBody>
      </p:sp>
      <p:sp>
        <p:nvSpPr>
          <p:cNvPr id="11267" name="Content Placeholder 2"/>
          <p:cNvSpPr>
            <a:spLocks noGrp="1"/>
          </p:cNvSpPr>
          <p:nvPr>
            <p:ph idx="1"/>
          </p:nvPr>
        </p:nvSpPr>
        <p:spPr>
          <a:xfrm>
            <a:off x="609600" y="1465943"/>
            <a:ext cx="10972800" cy="4833257"/>
          </a:xfrm>
        </p:spPr>
        <p:txBody>
          <a:bodyPr/>
          <a:lstStyle/>
          <a:p>
            <a:pPr algn="just" eaLnBrk="1" hangingPunct="1">
              <a:buNone/>
            </a:pPr>
            <a:r>
              <a:rPr lang="en-IN" sz="2400" b="1" dirty="0" smtClean="0">
                <a:latin typeface="Times New Roman" pitchFamily="18" charset="0"/>
                <a:cs typeface="Times New Roman" pitchFamily="18" charset="0"/>
              </a:rPr>
              <a:t>Software Requirements:</a:t>
            </a:r>
            <a:endParaRPr lang="en-US" sz="2400" b="1" dirty="0" smtClean="0">
              <a:latin typeface="Times New Roman" pitchFamily="18" charset="0"/>
              <a:cs typeface="Times New Roman" pitchFamily="18" charset="0"/>
            </a:endParaRPr>
          </a:p>
          <a:p>
            <a:pPr algn="just" eaLnBrk="1" hangingPunct="1">
              <a:buFont typeface="Arial" pitchFamily="34" charset="0"/>
              <a:buChar char="•"/>
            </a:pPr>
            <a:r>
              <a:rPr lang="en-US" sz="2400" b="1" dirty="0" smtClean="0">
                <a:latin typeface="Times New Roman" pitchFamily="18" charset="0"/>
                <a:cs typeface="Times New Roman" pitchFamily="18" charset="0"/>
              </a:rPr>
              <a:t>Frontend</a:t>
            </a:r>
            <a:r>
              <a:rPr lang="en-US" sz="2400" b="1"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HTML,CSS,JS</a:t>
            </a:r>
          </a:p>
          <a:p>
            <a:pPr algn="just" eaLnBrk="1" hangingPunct="1">
              <a:buFont typeface="Arial" pitchFamily="34" charset="0"/>
              <a:buChar char="•"/>
            </a:pPr>
            <a:r>
              <a:rPr lang="en-IN" sz="2400" b="1" dirty="0" smtClean="0">
                <a:latin typeface="Times New Roman" pitchFamily="18" charset="0"/>
                <a:cs typeface="Times New Roman" pitchFamily="18" charset="0"/>
              </a:rPr>
              <a:t>Tools: </a:t>
            </a:r>
            <a:r>
              <a:rPr lang="en-IN" sz="2400" dirty="0" smtClean="0">
                <a:latin typeface="Times New Roman" pitchFamily="18" charset="0"/>
                <a:cs typeface="Times New Roman" pitchFamily="18" charset="0"/>
              </a:rPr>
              <a:t>Visual Studio Code and Xampp server for </a:t>
            </a:r>
            <a:r>
              <a:rPr lang="en-IN" sz="2400" dirty="0" smtClean="0">
                <a:latin typeface="Times New Roman" pitchFamily="18" charset="0"/>
                <a:cs typeface="Times New Roman" pitchFamily="18" charset="0"/>
              </a:rPr>
              <a:t>database</a:t>
            </a:r>
          </a:p>
          <a:p>
            <a:pPr algn="just" eaLnBrk="1" hangingPunct="1">
              <a:buFont typeface="Arial" pitchFamily="34" charset="0"/>
              <a:buChar char="•"/>
            </a:pPr>
            <a:r>
              <a:rPr lang="en-IN" sz="2400" b="1" dirty="0" smtClean="0">
                <a:latin typeface="Times New Roman" pitchFamily="18" charset="0"/>
                <a:cs typeface="Times New Roman" pitchFamily="18" charset="0"/>
              </a:rPr>
              <a:t>Operating System: </a:t>
            </a:r>
            <a:r>
              <a:rPr lang="en-IN" sz="2400" dirty="0" smtClean="0">
                <a:latin typeface="Times New Roman" pitchFamily="18" charset="0"/>
                <a:cs typeface="Times New Roman" pitchFamily="18" charset="0"/>
              </a:rPr>
              <a:t>Windows 7(64 Bit), Windows 8 (64 Bit), Windows 10 (64 Bit</a:t>
            </a:r>
            <a:r>
              <a:rPr lang="en-IN" sz="2400" dirty="0" smtClean="0">
                <a:latin typeface="Times New Roman" pitchFamily="18" charset="0"/>
                <a:cs typeface="Times New Roman" pitchFamily="18" charset="0"/>
              </a:rPr>
              <a:t>)</a:t>
            </a:r>
            <a:endParaRPr lang="en-IN" sz="2400" dirty="0" smtClean="0">
              <a:latin typeface="Times New Roman" pitchFamily="18" charset="0"/>
              <a:cs typeface="Times New Roman" pitchFamily="18" charset="0"/>
            </a:endParaRPr>
          </a:p>
          <a:p>
            <a:pPr algn="just" eaLnBrk="1" hangingPunct="1">
              <a:buNone/>
            </a:pPr>
            <a:endParaRPr lang="en-IN" sz="2400" dirty="0" smtClean="0">
              <a:latin typeface="Times New Roman" pitchFamily="18" charset="0"/>
              <a:cs typeface="Times New Roman" pitchFamily="18" charset="0"/>
            </a:endParaRPr>
          </a:p>
          <a:p>
            <a:pPr algn="just" eaLnBrk="1" hangingPunct="1">
              <a:buNone/>
            </a:pPr>
            <a:r>
              <a:rPr lang="en-IN" sz="2400" b="1" dirty="0" smtClean="0">
                <a:latin typeface="Times New Roman" pitchFamily="18" charset="0"/>
                <a:cs typeface="Times New Roman" pitchFamily="18" charset="0"/>
              </a:rPr>
              <a:t>Hardware Requirements:</a:t>
            </a:r>
          </a:p>
          <a:p>
            <a:pPr algn="just" eaLnBrk="1" hangingPunct="1"/>
            <a:r>
              <a:rPr lang="en-IN" sz="2400" b="1" dirty="0" smtClean="0">
                <a:latin typeface="Times New Roman" pitchFamily="18" charset="0"/>
                <a:cs typeface="Times New Roman" pitchFamily="18" charset="0"/>
              </a:rPr>
              <a:t>Processor:</a:t>
            </a:r>
            <a:r>
              <a:rPr lang="en-IN" sz="2400" dirty="0" smtClean="0">
                <a:latin typeface="Times New Roman" pitchFamily="18" charset="0"/>
                <a:cs typeface="Times New Roman" pitchFamily="18" charset="0"/>
              </a:rPr>
              <a:t> Intel core i3 or equivalent (minimum</a:t>
            </a:r>
            <a:r>
              <a:rPr lang="en-IN" sz="2400" dirty="0" smtClean="0">
                <a:latin typeface="Times New Roman" pitchFamily="18" charset="0"/>
                <a:cs typeface="Times New Roman" pitchFamily="18" charset="0"/>
              </a:rPr>
              <a:t>)</a:t>
            </a:r>
            <a:endParaRPr lang="en-IN" sz="2400" b="1" dirty="0">
              <a:latin typeface="Times New Roman" pitchFamily="18" charset="0"/>
              <a:cs typeface="Times New Roman" pitchFamily="18" charset="0"/>
            </a:endParaRPr>
          </a:p>
          <a:p>
            <a:pPr algn="just" eaLnBrk="1" hangingPunct="1">
              <a:buFont typeface="Arial" pitchFamily="34" charset="0"/>
              <a:buChar char="•"/>
            </a:pPr>
            <a:r>
              <a:rPr lang="en-IN" sz="2400" b="1" dirty="0">
                <a:latin typeface="Times New Roman" pitchFamily="18" charset="0"/>
                <a:cs typeface="Times New Roman" pitchFamily="18" charset="0"/>
              </a:rPr>
              <a:t>RAM:</a:t>
            </a:r>
            <a:r>
              <a:rPr lang="en-IN" sz="2400" dirty="0">
                <a:latin typeface="Times New Roman" pitchFamily="18" charset="0"/>
                <a:cs typeface="Times New Roman" pitchFamily="18" charset="0"/>
              </a:rPr>
              <a:t> 4GB(minimum)</a:t>
            </a:r>
            <a:r>
              <a:rPr lang="en-US" sz="2400" dirty="0">
                <a:latin typeface="Times New Roman" pitchFamily="18" charset="0"/>
                <a:cs typeface="Times New Roman" pitchFamily="18" charset="0"/>
              </a:rPr>
              <a:t>, 8GB or more (recommended)</a:t>
            </a:r>
          </a:p>
          <a:p>
            <a:pPr algn="just" eaLnBrk="1" hangingPunct="1">
              <a:buFont typeface="Arial" pitchFamily="34" charset="0"/>
              <a:buChar char="•"/>
            </a:pPr>
            <a:r>
              <a:rPr lang="en-IN" sz="2400" b="1" dirty="0">
                <a:latin typeface="Times New Roman" pitchFamily="18" charset="0"/>
                <a:cs typeface="Times New Roman" pitchFamily="18" charset="0"/>
              </a:rPr>
              <a:t>Harddisk:</a:t>
            </a:r>
            <a:r>
              <a:rPr lang="en-IN" sz="2400" dirty="0">
                <a:latin typeface="Times New Roman" pitchFamily="18" charset="0"/>
                <a:cs typeface="Times New Roman" pitchFamily="18" charset="0"/>
              </a:rPr>
              <a:t>10GB of free </a:t>
            </a:r>
            <a:r>
              <a:rPr lang="en-IN" sz="2400" dirty="0" smtClean="0">
                <a:latin typeface="Times New Roman" pitchFamily="18" charset="0"/>
                <a:cs typeface="Times New Roman" pitchFamily="18" charset="0"/>
              </a:rPr>
              <a:t>space</a:t>
            </a:r>
            <a:endParaRPr lang="en-IN"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D285628A-1F22-47FD-9A8D-DF8F51CE94F4}" type="slidenum">
              <a:rPr lang="en-US"/>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 y="274638"/>
            <a:ext cx="10972800" cy="1143000"/>
          </a:xfrm>
        </p:spPr>
        <p:txBody>
          <a:bodyPr/>
          <a:lstStyle/>
          <a:p>
            <a:r>
              <a:rPr lang="en-US" sz="3200" b="1" dirty="0" smtClean="0">
                <a:latin typeface="Times New Roman" pitchFamily="18" charset="0"/>
                <a:cs typeface="Times New Roman" pitchFamily="18" charset="0"/>
              </a:rPr>
              <a:t>ANALYSIS OF THE DESIGN AND IMPLEMENTATION</a:t>
            </a:r>
            <a:endParaRPr lang="en-US" sz="3200" dirty="0"/>
          </a:p>
        </p:txBody>
      </p:sp>
      <p:pic>
        <p:nvPicPr>
          <p:cNvPr id="6" name="Content Placeholder 5" descr="WhatsApp Image 2024-07-17 at 12.14.21 PM.jpeg"/>
          <p:cNvPicPr>
            <a:picLocks noGrp="1" noChangeAspect="1"/>
          </p:cNvPicPr>
          <p:nvPr>
            <p:ph idx="1"/>
          </p:nvPr>
        </p:nvPicPr>
        <p:blipFill>
          <a:blip r:embed="rId2"/>
          <a:stretch>
            <a:fillRect/>
          </a:stretch>
        </p:blipFill>
        <p:spPr>
          <a:xfrm>
            <a:off x="3756081" y="1404257"/>
            <a:ext cx="4653712" cy="4525963"/>
          </a:xfrm>
        </p:spPr>
      </p:pic>
      <p:sp>
        <p:nvSpPr>
          <p:cNvPr id="4" name="Footer Placeholder 3"/>
          <p:cNvSpPr>
            <a:spLocks noGrp="1"/>
          </p:cNvSpPr>
          <p:nvPr>
            <p:ph type="ftr" sz="quarter" idx="11"/>
          </p:nvPr>
        </p:nvSpPr>
        <p:spPr/>
        <p:txBody>
          <a:bodyPr/>
          <a:lstStyle/>
          <a:p>
            <a:pPr>
              <a:defRPr/>
            </a:pPr>
            <a:r>
              <a:rPr lang="en-US" smtClean="0"/>
              <a:t>Dept. of CSE, SJCIT</a:t>
            </a:r>
            <a:endParaRPr lang="en-US"/>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0124"/>
            <a:ext cx="10972800" cy="1143000"/>
          </a:xfrm>
        </p:spPr>
        <p:txBody>
          <a:bodyPr/>
          <a:lstStyle/>
          <a:p>
            <a:r>
              <a:rPr lang="en-US" sz="3200" b="1" dirty="0">
                <a:latin typeface="Times New Roman" pitchFamily="18" charset="0"/>
                <a:cs typeface="Times New Roman" pitchFamily="18" charset="0"/>
              </a:rPr>
              <a:t>ANALYSIS OF THE DESIGN AND IMPLEMENTATION</a:t>
            </a:r>
            <a:endParaRPr lang="en-US" sz="3200" dirty="0"/>
          </a:p>
        </p:txBody>
      </p:sp>
      <p:sp>
        <p:nvSpPr>
          <p:cNvPr id="3" name="Content Placeholder 2"/>
          <p:cNvSpPr>
            <a:spLocks noGrp="1"/>
          </p:cNvSpPr>
          <p:nvPr>
            <p:ph idx="1"/>
          </p:nvPr>
        </p:nvSpPr>
        <p:spPr>
          <a:xfrm>
            <a:off x="609600" y="1306286"/>
            <a:ext cx="10972800" cy="4963885"/>
          </a:xfrm>
        </p:spPr>
        <p:txBody>
          <a:bodyPr/>
          <a:lstStyle/>
          <a:p>
            <a:pPr algn="just">
              <a:buFont typeface="+mj-lt"/>
              <a:buAutoNum type="arabicPeriod"/>
            </a:pPr>
            <a:r>
              <a:rPr lang="en-US" sz="2400" b="1" dirty="0">
                <a:latin typeface="Times New Roman" pitchFamily="18" charset="0"/>
                <a:cs typeface="Times New Roman" pitchFamily="18" charset="0"/>
              </a:rPr>
              <a:t>Design Strategy</a:t>
            </a:r>
            <a:r>
              <a:rPr lang="en-US" sz="2400" dirty="0">
                <a:latin typeface="Times New Roman" pitchFamily="18" charset="0"/>
                <a:cs typeface="Times New Roman" pitchFamily="18" charset="0"/>
              </a:rPr>
              <a:t>:</a:t>
            </a:r>
          </a:p>
          <a:p>
            <a:pPr algn="just"/>
            <a:r>
              <a:rPr lang="en-US" sz="2400" b="1" dirty="0">
                <a:latin typeface="Times New Roman" pitchFamily="18" charset="0"/>
                <a:cs typeface="Times New Roman" pitchFamily="18" charset="0"/>
              </a:rPr>
              <a:t>Objective</a:t>
            </a:r>
            <a:r>
              <a:rPr lang="en-US" sz="2400" dirty="0">
                <a:latin typeface="Times New Roman" pitchFamily="18" charset="0"/>
                <a:cs typeface="Times New Roman" pitchFamily="18" charset="0"/>
              </a:rPr>
              <a:t>: Simple, responsive, and user-friendly blogging website using HTML, CSS, and JavaScript.</a:t>
            </a:r>
          </a:p>
          <a:p>
            <a:pPr algn="just"/>
            <a:r>
              <a:rPr lang="en-US" sz="2400" b="1" dirty="0">
                <a:latin typeface="Times New Roman" pitchFamily="18" charset="0"/>
                <a:cs typeface="Times New Roman" pitchFamily="18" charset="0"/>
              </a:rPr>
              <a:t>User Interface</a:t>
            </a:r>
            <a:r>
              <a:rPr lang="en-US" sz="2400" dirty="0">
                <a:latin typeface="Times New Roman" pitchFamily="18" charset="0"/>
                <a:cs typeface="Times New Roman" pitchFamily="18" charset="0"/>
              </a:rPr>
              <a:t>: Intuitive navigation ensuring ease of use across devices.</a:t>
            </a:r>
          </a:p>
          <a:p>
            <a:pPr marL="0" indent="0" algn="just">
              <a:buNone/>
            </a:pPr>
            <a:endParaRPr lang="en-US" sz="2400" dirty="0">
              <a:latin typeface="Times New Roman" pitchFamily="18" charset="0"/>
              <a:cs typeface="Times New Roman" pitchFamily="18" charset="0"/>
            </a:endParaRPr>
          </a:p>
          <a:p>
            <a:pPr algn="just">
              <a:buNone/>
            </a:pPr>
            <a:r>
              <a:rPr lang="en-US" sz="2400" b="1" dirty="0">
                <a:latin typeface="Times New Roman" pitchFamily="18" charset="0"/>
                <a:cs typeface="Times New Roman" pitchFamily="18" charset="0"/>
              </a:rPr>
              <a:t>2.    Implementation Process</a:t>
            </a:r>
            <a:r>
              <a:rPr lang="en-US" sz="2400" dirty="0">
                <a:latin typeface="Times New Roman" pitchFamily="18" charset="0"/>
                <a:cs typeface="Times New Roman" pitchFamily="18" charset="0"/>
              </a:rPr>
              <a:t>:</a:t>
            </a:r>
          </a:p>
          <a:p>
            <a:pPr algn="just"/>
            <a:r>
              <a:rPr lang="en-US" sz="2400" b="1" dirty="0">
                <a:latin typeface="Times New Roman" pitchFamily="18" charset="0"/>
                <a:cs typeface="Times New Roman" pitchFamily="18" charset="0"/>
              </a:rPr>
              <a:t>HTML</a:t>
            </a:r>
            <a:r>
              <a:rPr lang="en-US" sz="2400" dirty="0">
                <a:latin typeface="Times New Roman" pitchFamily="18" charset="0"/>
                <a:cs typeface="Times New Roman" pitchFamily="18" charset="0"/>
              </a:rPr>
              <a:t>: Structured content with semantic elements.</a:t>
            </a:r>
          </a:p>
          <a:p>
            <a:pPr algn="just"/>
            <a:r>
              <a:rPr lang="en-US" sz="2400" b="1" dirty="0">
                <a:latin typeface="Times New Roman" pitchFamily="18" charset="0"/>
                <a:cs typeface="Times New Roman" pitchFamily="18" charset="0"/>
              </a:rPr>
              <a:t>CSS</a:t>
            </a:r>
            <a:r>
              <a:rPr lang="en-US" sz="2400" dirty="0">
                <a:latin typeface="Times New Roman" pitchFamily="18" charset="0"/>
                <a:cs typeface="Times New Roman" pitchFamily="18" charset="0"/>
              </a:rPr>
              <a:t>: Applied styles and media queries for responsiveness.</a:t>
            </a:r>
          </a:p>
          <a:p>
            <a:pPr algn="just"/>
            <a:r>
              <a:rPr lang="en-US" sz="2400" b="1" dirty="0">
                <a:latin typeface="Times New Roman" pitchFamily="18" charset="0"/>
                <a:cs typeface="Times New Roman" pitchFamily="18" charset="0"/>
              </a:rPr>
              <a:t>JavaScript</a:t>
            </a:r>
            <a:r>
              <a:rPr lang="en-US" sz="2400" dirty="0">
                <a:latin typeface="Times New Roman" pitchFamily="18" charset="0"/>
                <a:cs typeface="Times New Roman" pitchFamily="18" charset="0"/>
              </a:rPr>
              <a:t>: Enabled dynamic features like form validation and interactivity.</a:t>
            </a: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0124"/>
            <a:ext cx="10972800" cy="1143000"/>
          </a:xfrm>
        </p:spPr>
        <p:txBody>
          <a:bodyPr/>
          <a:lstStyle/>
          <a:p>
            <a:r>
              <a:rPr lang="en-US" sz="3200" b="1" dirty="0">
                <a:latin typeface="Times New Roman" pitchFamily="18" charset="0"/>
                <a:cs typeface="Times New Roman" pitchFamily="18" charset="0"/>
              </a:rPr>
              <a:t>ANALYSIS OF THE DESIGN AND IMPLEMENTATION</a:t>
            </a:r>
            <a:endParaRPr lang="en-US" sz="3200" dirty="0"/>
          </a:p>
        </p:txBody>
      </p:sp>
      <p:sp>
        <p:nvSpPr>
          <p:cNvPr id="3" name="Content Placeholder 2"/>
          <p:cNvSpPr>
            <a:spLocks noGrp="1"/>
          </p:cNvSpPr>
          <p:nvPr>
            <p:ph idx="1"/>
          </p:nvPr>
        </p:nvSpPr>
        <p:spPr/>
        <p:txBody>
          <a:bodyPr/>
          <a:lstStyle/>
          <a:p>
            <a:pPr algn="just">
              <a:buNone/>
            </a:pPr>
            <a:r>
              <a:rPr lang="en-US" sz="2400" b="1" dirty="0">
                <a:latin typeface="Times New Roman" pitchFamily="18" charset="0"/>
                <a:cs typeface="Times New Roman" pitchFamily="18" charset="0"/>
              </a:rPr>
              <a:t>3.    Challenges and Solutions</a:t>
            </a:r>
            <a:r>
              <a:rPr lang="en-US" sz="2400" dirty="0">
                <a:latin typeface="Times New Roman" pitchFamily="18" charset="0"/>
                <a:cs typeface="Times New Roman" pitchFamily="18" charset="0"/>
              </a:rPr>
              <a:t>:</a:t>
            </a:r>
          </a:p>
          <a:p>
            <a:pPr algn="just"/>
            <a:r>
              <a:rPr lang="en-US" sz="2400" b="1" dirty="0">
                <a:latin typeface="Times New Roman" pitchFamily="18" charset="0"/>
                <a:cs typeface="Times New Roman" pitchFamily="18" charset="0"/>
              </a:rPr>
              <a:t>Responsive Design</a:t>
            </a:r>
            <a:r>
              <a:rPr lang="en-US" sz="2400" dirty="0">
                <a:latin typeface="Times New Roman" pitchFamily="18" charset="0"/>
                <a:cs typeface="Times New Roman" pitchFamily="18" charset="0"/>
              </a:rPr>
              <a:t>: Used flexible grids and media queries.</a:t>
            </a:r>
          </a:p>
          <a:p>
            <a:pPr algn="just"/>
            <a:r>
              <a:rPr lang="en-US" sz="2400" b="1" dirty="0">
                <a:latin typeface="Times New Roman" pitchFamily="18" charset="0"/>
                <a:cs typeface="Times New Roman" pitchFamily="18" charset="0"/>
              </a:rPr>
              <a:t>Security</a:t>
            </a:r>
            <a:r>
              <a:rPr lang="en-US" sz="2400" dirty="0">
                <a:latin typeface="Times New Roman" pitchFamily="18" charset="0"/>
                <a:cs typeface="Times New Roman" pitchFamily="18" charset="0"/>
              </a:rPr>
              <a:t>: Implemented input validation and secure storage.</a:t>
            </a:r>
          </a:p>
          <a:p>
            <a:pPr algn="just"/>
            <a:r>
              <a:rPr lang="en-US" sz="2400" b="1" dirty="0">
                <a:latin typeface="Times New Roman" pitchFamily="18" charset="0"/>
                <a:cs typeface="Times New Roman" pitchFamily="18" charset="0"/>
              </a:rPr>
              <a:t>Performance</a:t>
            </a:r>
            <a:r>
              <a:rPr lang="en-US" sz="2400" dirty="0">
                <a:latin typeface="Times New Roman" pitchFamily="18" charset="0"/>
                <a:cs typeface="Times New Roman" pitchFamily="18" charset="0"/>
              </a:rPr>
              <a:t>: Optimized loading times and resources.</a:t>
            </a:r>
          </a:p>
          <a:p>
            <a:pPr algn="just"/>
            <a:endParaRPr lang="en-US" sz="2400" dirty="0">
              <a:latin typeface="Times New Roman" pitchFamily="18" charset="0"/>
              <a:cs typeface="Times New Roman" pitchFamily="18" charset="0"/>
            </a:endParaRPr>
          </a:p>
          <a:p>
            <a:pPr algn="just">
              <a:buNone/>
            </a:pPr>
            <a:r>
              <a:rPr lang="en-US" sz="2400" b="1" dirty="0">
                <a:latin typeface="Times New Roman" pitchFamily="18" charset="0"/>
                <a:cs typeface="Times New Roman" pitchFamily="18" charset="0"/>
              </a:rPr>
              <a:t>4.    Outcomes</a:t>
            </a:r>
            <a:r>
              <a:rPr lang="en-US" sz="2400" dirty="0">
                <a:latin typeface="Times New Roman" pitchFamily="18" charset="0"/>
                <a:cs typeface="Times New Roman" pitchFamily="18" charset="0"/>
              </a:rPr>
              <a:t>:</a:t>
            </a:r>
          </a:p>
          <a:p>
            <a:pPr algn="just"/>
            <a:r>
              <a:rPr lang="en-US" sz="2400" b="1" dirty="0">
                <a:latin typeface="Times New Roman" pitchFamily="18" charset="0"/>
                <a:cs typeface="Times New Roman" pitchFamily="18" charset="0"/>
              </a:rPr>
              <a:t>Engagement</a:t>
            </a:r>
            <a:r>
              <a:rPr lang="en-US" sz="2400" dirty="0">
                <a:latin typeface="Times New Roman" pitchFamily="18" charset="0"/>
                <a:cs typeface="Times New Roman" pitchFamily="18" charset="0"/>
              </a:rPr>
              <a:t>: Increased user interaction.</a:t>
            </a:r>
          </a:p>
          <a:p>
            <a:pPr algn="just"/>
            <a:r>
              <a:rPr lang="en-US" sz="2400" b="1" dirty="0">
                <a:latin typeface="Times New Roman" pitchFamily="18" charset="0"/>
                <a:cs typeface="Times New Roman" pitchFamily="18" charset="0"/>
              </a:rPr>
              <a:t>Scalability</a:t>
            </a:r>
            <a:r>
              <a:rPr lang="en-US" sz="2400" dirty="0">
                <a:latin typeface="Times New Roman" pitchFamily="18" charset="0"/>
                <a:cs typeface="Times New Roman" pitchFamily="18" charset="0"/>
              </a:rPr>
              <a:t>: Foundation for future enhancements.</a:t>
            </a:r>
          </a:p>
          <a:p>
            <a:pPr algn="just"/>
            <a:r>
              <a:rPr lang="en-US" sz="2400" b="1" dirty="0">
                <a:latin typeface="Times New Roman" pitchFamily="18" charset="0"/>
                <a:cs typeface="Times New Roman" pitchFamily="18" charset="0"/>
              </a:rPr>
              <a:t>Learning</a:t>
            </a:r>
            <a:r>
              <a:rPr lang="en-US" sz="2400" dirty="0">
                <a:latin typeface="Times New Roman" pitchFamily="18" charset="0"/>
                <a:cs typeface="Times New Roman" pitchFamily="18" charset="0"/>
              </a:rPr>
              <a:t>: Practical experience with web development and security practices</a:t>
            </a:r>
          </a:p>
          <a:p>
            <a:endParaRPr lang="en-US" sz="2400" dirty="0"/>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itchFamily="18" charset="0"/>
                <a:cs typeface="Times New Roman" pitchFamily="18" charset="0"/>
              </a:rPr>
              <a:t>RESULTS AND DISCUSSION</a:t>
            </a:r>
            <a:endParaRPr lang="en-IN" sz="3200" b="1" dirty="0">
              <a:latin typeface="Times New Roman" pitchFamily="18" charset="0"/>
              <a:cs typeface="Times New Roman" pitchFamily="18" charset="0"/>
            </a:endParaRPr>
          </a:p>
        </p:txBody>
      </p:sp>
      <p:pic>
        <p:nvPicPr>
          <p:cNvPr id="11" name="Content Placeholder 10" descr="WhatsApp Image 2024-07-15 at 5.03.25 PM.jpeg"/>
          <p:cNvPicPr>
            <a:picLocks noGrp="1" noChangeAspect="1"/>
          </p:cNvPicPr>
          <p:nvPr>
            <p:ph idx="1"/>
          </p:nvPr>
        </p:nvPicPr>
        <p:blipFill>
          <a:blip r:embed="rId2"/>
          <a:stretch>
            <a:fillRect/>
          </a:stretch>
        </p:blipFill>
        <p:spPr>
          <a:xfrm>
            <a:off x="940808" y="1484085"/>
            <a:ext cx="5205790" cy="2928257"/>
          </a:xfrm>
        </p:spPr>
      </p:pic>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17</a:t>
            </a:fld>
            <a:endParaRPr lang="en-US"/>
          </a:p>
        </p:txBody>
      </p:sp>
      <p:pic>
        <p:nvPicPr>
          <p:cNvPr id="12" name="Picture 11" descr="WhatsApp Image 2024-07-15 at 5.03.44 PM.jpeg"/>
          <p:cNvPicPr>
            <a:picLocks noChangeAspect="1"/>
          </p:cNvPicPr>
          <p:nvPr/>
        </p:nvPicPr>
        <p:blipFill>
          <a:blip r:embed="rId3"/>
          <a:stretch>
            <a:fillRect/>
          </a:stretch>
        </p:blipFill>
        <p:spPr>
          <a:xfrm>
            <a:off x="6270171" y="3389084"/>
            <a:ext cx="5341257" cy="3004457"/>
          </a:xfrm>
          <a:prstGeom prst="rect">
            <a:avLst/>
          </a:prstGeom>
        </p:spPr>
      </p:pic>
    </p:spTree>
    <p:extLst>
      <p:ext uri="{BB962C8B-B14F-4D97-AF65-F5344CB8AC3E}">
        <p14:creationId xmlns:p14="http://schemas.microsoft.com/office/powerpoint/2010/main" xmlns="" val="2650352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itchFamily="18" charset="0"/>
                <a:cs typeface="Times New Roman" pitchFamily="18" charset="0"/>
              </a:rPr>
              <a:t>RESULTS AND DISCUSSION</a:t>
            </a:r>
            <a:endParaRPr lang="en-US" sz="3200" dirty="0"/>
          </a:p>
        </p:txBody>
      </p:sp>
      <p:pic>
        <p:nvPicPr>
          <p:cNvPr id="6" name="Content Placeholder 5" descr="WhatsApp Image 2024-07-15 at 5.04.06 PM.jpeg"/>
          <p:cNvPicPr>
            <a:picLocks noGrp="1" noChangeAspect="1"/>
          </p:cNvPicPr>
          <p:nvPr>
            <p:ph idx="1"/>
          </p:nvPr>
        </p:nvPicPr>
        <p:blipFill>
          <a:blip r:embed="rId2"/>
          <a:stretch>
            <a:fillRect/>
          </a:stretch>
        </p:blipFill>
        <p:spPr>
          <a:xfrm>
            <a:off x="6422369" y="3312885"/>
            <a:ext cx="4921956" cy="2768600"/>
          </a:xfrm>
        </p:spPr>
      </p:pic>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18</a:t>
            </a:fld>
            <a:endParaRPr lang="en-US"/>
          </a:p>
        </p:txBody>
      </p:sp>
      <p:pic>
        <p:nvPicPr>
          <p:cNvPr id="7" name="Picture 6" descr="WhatsApp Image 2024-07-15 at 5.04.22 PM.jpeg"/>
          <p:cNvPicPr>
            <a:picLocks noChangeAspect="1"/>
          </p:cNvPicPr>
          <p:nvPr/>
        </p:nvPicPr>
        <p:blipFill>
          <a:blip r:embed="rId3"/>
          <a:stretch>
            <a:fillRect/>
          </a:stretch>
        </p:blipFill>
        <p:spPr>
          <a:xfrm>
            <a:off x="624113" y="1291773"/>
            <a:ext cx="5181600" cy="29146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itchFamily="18" charset="0"/>
                <a:cs typeface="Times New Roman" pitchFamily="18" charset="0"/>
              </a:rPr>
              <a:t>RESULTS AND DISCUSSION</a:t>
            </a:r>
            <a:endParaRPr lang="en-US" sz="3200" dirty="0"/>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19</a:t>
            </a:fld>
            <a:endParaRPr lang="en-US"/>
          </a:p>
        </p:txBody>
      </p:sp>
      <p:pic>
        <p:nvPicPr>
          <p:cNvPr id="19" name="Content Placeholder 18">
            <a:extLst>
              <a:ext uri="{FF2B5EF4-FFF2-40B4-BE49-F238E27FC236}">
                <a16:creationId xmlns:a16="http://schemas.microsoft.com/office/drawing/2014/main" xmlns="" id="{80B587C6-F301-98E2-FBA6-908ABC0DE23E}"/>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794628" y="1348273"/>
            <a:ext cx="4768979" cy="2682551"/>
          </a:xfrm>
        </p:spPr>
      </p:pic>
      <p:pic>
        <p:nvPicPr>
          <p:cNvPr id="21" name="Picture 20">
            <a:extLst>
              <a:ext uri="{FF2B5EF4-FFF2-40B4-BE49-F238E27FC236}">
                <a16:creationId xmlns:a16="http://schemas.microsoft.com/office/drawing/2014/main" xmlns="" id="{65956567-4F43-4E64-2C2C-63A1A3B263E5}"/>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932958" y="3429000"/>
            <a:ext cx="5203370" cy="29268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700746-8BD8-FDA3-0436-CAAC38D3785A}"/>
              </a:ext>
            </a:extLst>
          </p:cNvPr>
          <p:cNvSpPr>
            <a:spLocks noGrp="1"/>
          </p:cNvSpPr>
          <p:nvPr>
            <p:ph type="title"/>
          </p:nvPr>
        </p:nvSpPr>
        <p:spPr/>
        <p:txBody>
          <a:bodyPr/>
          <a:lstStyle/>
          <a:p>
            <a:r>
              <a:rPr lang="en-US" sz="3200" b="1" dirty="0">
                <a:latin typeface="Times New Roman" pitchFamily="18" charset="0"/>
                <a:cs typeface="Times New Roman" pitchFamily="18" charset="0"/>
              </a:rPr>
              <a:t>RESULTS AND DISCUSSION</a:t>
            </a:r>
            <a:endParaRPr lang="en-IN" sz="3200" dirty="0"/>
          </a:p>
        </p:txBody>
      </p:sp>
      <p:pic>
        <p:nvPicPr>
          <p:cNvPr id="7" name="Content Placeholder 6">
            <a:extLst>
              <a:ext uri="{FF2B5EF4-FFF2-40B4-BE49-F238E27FC236}">
                <a16:creationId xmlns:a16="http://schemas.microsoft.com/office/drawing/2014/main" xmlns="" id="{830F2143-9046-C76B-30F0-A92BBBD5B9D6}"/>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072922" y="1600200"/>
            <a:ext cx="8046156" cy="4525963"/>
          </a:xfrm>
        </p:spPr>
      </p:pic>
      <p:sp>
        <p:nvSpPr>
          <p:cNvPr id="4" name="Footer Placeholder 3">
            <a:extLst>
              <a:ext uri="{FF2B5EF4-FFF2-40B4-BE49-F238E27FC236}">
                <a16:creationId xmlns:a16="http://schemas.microsoft.com/office/drawing/2014/main" xmlns="" id="{96117864-9151-3813-66F4-D0D419A0129D}"/>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xmlns="" id="{4AC0B841-FFC9-75CA-D815-A6A5B443FB98}"/>
              </a:ext>
            </a:extLst>
          </p:cNvPr>
          <p:cNvSpPr>
            <a:spLocks noGrp="1"/>
          </p:cNvSpPr>
          <p:nvPr>
            <p:ph type="sldNum" sz="quarter" idx="12"/>
          </p:nvPr>
        </p:nvSpPr>
        <p:spPr/>
        <p:txBody>
          <a:bodyPr/>
          <a:lstStyle/>
          <a:p>
            <a:pPr>
              <a:defRPr/>
            </a:pPr>
            <a:fld id="{81778C72-80D4-44C2-A5C0-B833B330A205}" type="slidenum">
              <a:rPr lang="en-US" smtClean="0"/>
              <a:pPr>
                <a:defRPr/>
              </a:pPr>
              <a:t>20</a:t>
            </a:fld>
            <a:endParaRPr lang="en-US"/>
          </a:p>
        </p:txBody>
      </p:sp>
    </p:spTree>
    <p:extLst>
      <p:ext uri="{BB962C8B-B14F-4D97-AF65-F5344CB8AC3E}">
        <p14:creationId xmlns:p14="http://schemas.microsoft.com/office/powerpoint/2010/main" xmlns="" val="2329944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latin typeface="Times New Roman" pitchFamily="18" charset="0"/>
                <a:cs typeface="Times New Roman" pitchFamily="18" charset="0"/>
              </a:rPr>
              <a:t>CONCLUSION</a:t>
            </a:r>
            <a:endParaRPr lang="en-IN"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296092" y="1220652"/>
            <a:ext cx="10598331" cy="5152572"/>
          </a:xfrm>
        </p:spPr>
        <p:txBody>
          <a:bodyPr/>
          <a:lstStyle/>
          <a:p>
            <a:pPr algn="just">
              <a:buNone/>
            </a:pPr>
            <a:endParaRPr lang="en-US" sz="2400" b="1" dirty="0" smtClean="0">
              <a:latin typeface="Times New Roman" pitchFamily="18" charset="0"/>
              <a:cs typeface="Times New Roman" pitchFamily="18" charset="0"/>
            </a:endParaRPr>
          </a:p>
          <a:p>
            <a:pPr lvl="1" algn="just">
              <a:buNone/>
            </a:pPr>
            <a:r>
              <a:rPr lang="en-US" sz="2000" dirty="0" smtClean="0">
                <a:latin typeface="Times New Roman" pitchFamily="18" charset="0"/>
                <a:cs typeface="Times New Roman" pitchFamily="18" charset="0"/>
              </a:rPr>
              <a:t>	The </a:t>
            </a:r>
            <a:r>
              <a:rPr lang="en-US" sz="2000" dirty="0">
                <a:latin typeface="Times New Roman" pitchFamily="18" charset="0"/>
                <a:cs typeface="Times New Roman" pitchFamily="18" charset="0"/>
              </a:rPr>
              <a:t>blogging website developed using HTML, CSS, and JavaScript is designed to be simple, effective, and user-friendly. It provides a platform for users to express their ideas, share information, and engage with a wide audience through a visually appealing and responsive interface. Basic security measures ensure user data protection, contributing to a smooth and engaging user experience.</a:t>
            </a:r>
          </a:p>
          <a:p>
            <a:pPr algn="just">
              <a:buNone/>
            </a:pPr>
            <a:endParaRPr lang="en-US" sz="2400" dirty="0">
              <a:latin typeface="Times New Roman" pitchFamily="18" charset="0"/>
              <a:cs typeface="Times New Roman" pitchFamily="18" charset="0"/>
            </a:endParaRPr>
          </a:p>
          <a:p>
            <a:pPr algn="just"/>
            <a:endParaRPr lang="en-IN"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dirty="0"/>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21</a:t>
            </a:fld>
            <a:endParaRPr lang="en-US" dirty="0"/>
          </a:p>
        </p:txBody>
      </p:sp>
    </p:spTree>
    <p:extLst>
      <p:ext uri="{BB962C8B-B14F-4D97-AF65-F5344CB8AC3E}">
        <p14:creationId xmlns:p14="http://schemas.microsoft.com/office/powerpoint/2010/main" xmlns="" val="406208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itchFamily="18" charset="0"/>
                <a:cs typeface="Times New Roman" pitchFamily="18" charset="0"/>
              </a:rPr>
              <a:t>BIBILOGRAPHY</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sz="2400" dirty="0">
                <a:latin typeface="Times New Roman" pitchFamily="18" charset="0"/>
                <a:cs typeface="Times New Roman" pitchFamily="18" charset="0"/>
                <a:hlinkClick r:id="rId2"/>
              </a:rPr>
              <a:t>https://www.tandfonline.com/doi/abs/10.1080/13600830801886984</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hlinkClick r:id="rId3"/>
              </a:rPr>
              <a:t>https://openai.com/chatgpt</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hlinkClick r:id="rId4"/>
              </a:rPr>
              <a:t>https://github.com/kunaal438/blogging-site</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hlinkClick r:id="rId5"/>
              </a:rPr>
              <a:t>https://www.researchgate.net/publication/351725158_A_Systematic_Review_of_Blogging_Opportunities_and_Challenges</a:t>
            </a: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dirty="0"/>
              <a:t>Dept. of CSE, SJCIT</a:t>
            </a:r>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22</a:t>
            </a:fld>
            <a:endParaRPr lang="en-US"/>
          </a:p>
        </p:txBody>
      </p:sp>
    </p:spTree>
    <p:extLst>
      <p:ext uri="{BB962C8B-B14F-4D97-AF65-F5344CB8AC3E}">
        <p14:creationId xmlns:p14="http://schemas.microsoft.com/office/powerpoint/2010/main" xmlns="" val="3240948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3888" y="2133600"/>
            <a:ext cx="9610725" cy="3778250"/>
          </a:xfrm>
        </p:spPr>
        <p:txBody>
          <a:bodyPr rtlCol="0">
            <a:normAutofit/>
          </a:bodyPr>
          <a:lstStyle/>
          <a:p>
            <a:pPr marL="0" indent="0" eaLnBrk="1" fontAlgn="auto" hangingPunct="1">
              <a:spcAft>
                <a:spcPts val="0"/>
              </a:spcAft>
              <a:buFont typeface="Arial" pitchFamily="34" charset="0"/>
              <a:buNone/>
              <a:defRPr/>
            </a:pPr>
            <a:r>
              <a:rPr lang="en-US" sz="9600" dirty="0">
                <a:solidFill>
                  <a:schemeClr val="accent1">
                    <a:lumMod val="75000"/>
                  </a:schemeClr>
                </a:solidFill>
                <a:latin typeface="Times New Roman" panose="02020603050405020304" pitchFamily="18" charset="0"/>
                <a:cs typeface="Times New Roman" panose="02020603050405020304" pitchFamily="18" charset="0"/>
              </a:rPr>
              <a:t>   </a:t>
            </a:r>
            <a:r>
              <a:rPr lang="en-US" sz="9600"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 </a:t>
            </a: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729643C9-1E9F-4DD0-9B72-36FDA7689087}" type="slidenum">
              <a:rPr lang="en-US"/>
              <a:pPr>
                <a:defRPr/>
              </a:pPr>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778</TotalTime>
  <Words>1217</Words>
  <Application>Microsoft Office PowerPoint</Application>
  <PresentationFormat>Custom</PresentationFormat>
  <Paragraphs>199</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          S J C INSTITUTE OF TECHNOLOGY         DEPARTMENT OF COMPUTER SCIENCE AND ENGINEERING</vt:lpstr>
      <vt:lpstr>CONTENTS</vt:lpstr>
      <vt:lpstr>                             ABSTRACT</vt:lpstr>
      <vt:lpstr>            INTRODUCTION</vt:lpstr>
      <vt:lpstr>LITERATURE SURVEY</vt:lpstr>
      <vt:lpstr>PROBLEM IDENTIFICATION &amp; DEFINITION</vt:lpstr>
      <vt:lpstr>SIGNIFICANCE </vt:lpstr>
      <vt:lpstr>OBJECTIVES</vt:lpstr>
      <vt:lpstr>METHODOLOGY</vt:lpstr>
      <vt:lpstr>METHODOLOGY</vt:lpstr>
      <vt:lpstr>PLAN OF EXECUTION</vt:lpstr>
      <vt:lpstr>PLAN OF EXECUTION</vt:lpstr>
      <vt:lpstr>SYSTEM REQUIREMENTS AND SPECIFICATIONS</vt:lpstr>
      <vt:lpstr>ANALYSIS OF THE DESIGN AND IMPLEMENTATION</vt:lpstr>
      <vt:lpstr>ANALYSIS OF THE DESIGN AND IMPLEMENTATION</vt:lpstr>
      <vt:lpstr>ANALYSIS OF THE DESIGN AND IMPLEMENTATION</vt:lpstr>
      <vt:lpstr>RESULTS AND DISCUSSION</vt:lpstr>
      <vt:lpstr>RESULTS AND DISCUSSION</vt:lpstr>
      <vt:lpstr>RESULTS AND DISCUSSION</vt:lpstr>
      <vt:lpstr>RESULTS AND DISCUSSION</vt:lpstr>
      <vt:lpstr>CONCLUSION</vt:lpstr>
      <vt:lpstr>BIBILOGRAPHY</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basha</cp:lastModifiedBy>
  <cp:revision>109</cp:revision>
  <dcterms:created xsi:type="dcterms:W3CDTF">2018-02-20T14:40:21Z</dcterms:created>
  <dcterms:modified xsi:type="dcterms:W3CDTF">2024-07-17T06:57:58Z</dcterms:modified>
</cp:coreProperties>
</file>